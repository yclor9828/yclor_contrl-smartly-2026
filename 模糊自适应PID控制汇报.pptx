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38BDF8"/>
                </a:solidFill>
                <a:latin typeface="Microsoft YaHei"/>
              </a:defRPr>
            </a:pPr>
            <a:r>
              <a:t>智能控制课程设计 · 答辩汇报</a:t>
            </a:r>
          </a:p>
          <a:p>
            <a:pPr>
              <a:spcAft>
                <a:spcPts val="1200"/>
              </a:spcAft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模糊自适应 PID 控制系统的设计与全维度验证</a:t>
            </a:r>
          </a:p>
          <a:p>
            <a:pPr>
              <a:spcAft>
                <a:spcPts val="3600"/>
              </a:spcAft>
              <a:defRPr sz="1600">
                <a:solidFill>
                  <a:srgbClr val="CBD5E1"/>
                </a:solidFill>
                <a:latin typeface="Microsoft YaHei"/>
              </a:defRPr>
            </a:pPr>
            <a:r>
              <a:t>从经典机理到智能自适应的工程演进、机理解剖与鲁棒性极限实测</a:t>
            </a:r>
          </a:p>
          <a:p>
            <a:pPr>
              <a:defRPr sz="1300">
                <a:solidFill>
                  <a:srgbClr val="94A3B8"/>
                </a:solidFill>
                <a:latin typeface="Microsoft YaHei"/>
              </a:defRPr>
            </a:pPr>
            <a:r>
              <a:t>汇报人：学生姓名    |    指导教师：课程教师    |    日期：2026年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Microsoft YaHei"/>
              </a:defRPr>
            </a:pPr>
            <a:r>
              <a:t>第一部分 · 经典与演进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控制工程的基石：传统 PID 的定义与现实瓶颈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E3A8A"/>
                </a:solidFill>
              </a:defRPr>
            </a:pPr>
            <a:r>
              <a:t>传统 PID 控制的数学机理</a:t>
            </a:r>
          </a:p>
          <a:p>
            <a:pPr>
              <a:spcAft>
                <a:spcPts val="800"/>
              </a:spcAft>
              <a:defRPr sz="1300">
                <a:latin typeface="Microsoft YaHei"/>
              </a:defRPr>
            </a:pPr>
            <a:r>
              <a:rPr b="1">
                <a:solidFill>
                  <a:srgbClr val="1E3A8A"/>
                </a:solidFill>
              </a:rPr>
              <a:t>控制律方程: </a:t>
            </a:r>
            <a:r>
              <a:rPr b="0">
                <a:solidFill>
                  <a:srgbClr val="1E293B"/>
                </a:solidFill>
              </a:rPr>
              <a:t>u(t) = Kp·e(t) + Ki·∫e(τ)dτ + Kd·de(t)/dt</a:t>
            </a:r>
          </a:p>
          <a:p>
            <a:pPr>
              <a:spcAft>
                <a:spcPts val="800"/>
              </a:spcAft>
              <a:defRPr sz="1300">
                <a:latin typeface="Microsoft YaHei"/>
              </a:defRPr>
            </a:pPr>
            <a:r>
              <a:rPr b="1">
                <a:solidFill>
                  <a:srgbClr val="1E3A8A"/>
                </a:solidFill>
              </a:rPr>
              <a:t>P 比例环节: </a:t>
            </a:r>
            <a:r>
              <a:rPr b="0">
                <a:solidFill>
                  <a:srgbClr val="1E293B"/>
                </a:solidFill>
              </a:rPr>
              <a:t>按当前误差成比例驱动输出，是系统响应速度的基石；</a:t>
            </a:r>
          </a:p>
          <a:p>
            <a:pPr>
              <a:spcAft>
                <a:spcPts val="800"/>
              </a:spcAft>
              <a:defRPr sz="1300">
                <a:latin typeface="Microsoft YaHei"/>
              </a:defRPr>
            </a:pPr>
            <a:r>
              <a:rPr b="1">
                <a:solidFill>
                  <a:srgbClr val="1E3A8A"/>
                </a:solidFill>
              </a:rPr>
              <a:t>I 积分环节: </a:t>
            </a:r>
            <a:r>
              <a:rPr b="0">
                <a:solidFill>
                  <a:srgbClr val="1E293B"/>
                </a:solidFill>
              </a:rPr>
              <a:t>对历史误差进行积分累加，负责彻底消除系统的稳态静差；</a:t>
            </a:r>
          </a:p>
          <a:p>
            <a:pPr>
              <a:spcAft>
                <a:spcPts val="800"/>
              </a:spcAft>
              <a:defRPr sz="1300">
                <a:latin typeface="Microsoft YaHei"/>
              </a:defRPr>
            </a:pPr>
            <a:r>
              <a:rPr b="1">
                <a:solidFill>
                  <a:srgbClr val="1E3A8A"/>
                </a:solidFill>
              </a:rPr>
              <a:t>D 微分环节: </a:t>
            </a:r>
            <a:r>
              <a:rPr b="0">
                <a:solidFill>
                  <a:srgbClr val="1E293B"/>
                </a:solidFill>
              </a:rPr>
              <a:t>预测未来误差变化趋势，在系统快速冲向目标时提供制动阻尼。</a:t>
            </a:r>
          </a:p>
          <a:p>
            <a:pPr>
              <a:spcAft>
                <a:spcPts val="800"/>
              </a:spcAft>
              <a:defRPr sz="1300">
                <a:latin typeface="Microsoft YaHei"/>
              </a:defRPr>
            </a:pPr>
            <a:r>
              <a:rPr b="1">
                <a:solidFill>
                  <a:srgbClr val="1E3A8A"/>
                </a:solidFill>
              </a:rPr>
              <a:t>工业主导地位: </a:t>
            </a:r>
            <a:r>
              <a:rPr b="0">
                <a:solidFill>
                  <a:srgbClr val="1E293B"/>
                </a:solidFill>
              </a:rPr>
              <a:t>结构简单、可靠性极高，占据工业现场 90% 以上控制回路。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DC2626"/>
                </a:solidFill>
              </a:defRPr>
            </a:pPr>
            <a:r>
              <a:t>工业现场面临的严峻瓶颈</a:t>
            </a:r>
          </a:p>
          <a:p>
            <a:pPr>
              <a:spcAft>
                <a:spcPts val="800"/>
              </a:spcAft>
              <a:defRPr sz="1300">
                <a:latin typeface="Microsoft YaHei"/>
              </a:defRPr>
            </a:pPr>
            <a:r>
              <a:rPr b="1">
                <a:solidFill>
                  <a:srgbClr val="DC2626"/>
                </a:solidFill>
              </a:rPr>
              <a:t>参数固化缺陷: </a:t>
            </a:r>
            <a:r>
              <a:rPr b="0">
                <a:solidFill>
                  <a:srgbClr val="1E293B"/>
                </a:solidFill>
              </a:rPr>
              <a:t>Kp, Ki, Kd 在运行中恒定不变，仅在标称单点工作状态下有效；</a:t>
            </a:r>
          </a:p>
          <a:p>
            <a:pPr>
              <a:spcAft>
                <a:spcPts val="800"/>
              </a:spcAft>
              <a:defRPr sz="1300">
                <a:latin typeface="Microsoft YaHei"/>
              </a:defRPr>
            </a:pPr>
            <a:r>
              <a:rPr b="1">
                <a:solidFill>
                  <a:srgbClr val="1E3A8A"/>
                </a:solidFill>
              </a:rPr>
              <a:t>难以兼顾快与稳: </a:t>
            </a:r>
            <a:r>
              <a:rPr b="0">
                <a:solidFill>
                  <a:srgbClr val="1E293B"/>
                </a:solidFill>
              </a:rPr>
              <a:t>大误差起动时大 Kp 易超调，小误差时为防震荡又导致调节迟缓；</a:t>
            </a:r>
          </a:p>
          <a:p>
            <a:pPr>
              <a:spcAft>
                <a:spcPts val="800"/>
              </a:spcAft>
              <a:defRPr sz="1300">
                <a:latin typeface="Microsoft YaHei"/>
              </a:defRPr>
            </a:pPr>
            <a:r>
              <a:rPr b="1">
                <a:solidFill>
                  <a:srgbClr val="DC2626"/>
                </a:solidFill>
              </a:rPr>
              <a:t>积分饱和风险 (Windup): </a:t>
            </a:r>
            <a:r>
              <a:rPr b="0">
                <a:solidFill>
                  <a:srgbClr val="1E293B"/>
                </a:solidFill>
              </a:rPr>
              <a:t>执行器受物理限幅时，积分项仍在盲目累加，导致系统巨大超调；</a:t>
            </a:r>
          </a:p>
          <a:p>
            <a:pPr>
              <a:spcAft>
                <a:spcPts val="800"/>
              </a:spcAft>
              <a:defRPr sz="1300">
                <a:latin typeface="Microsoft YaHei"/>
              </a:defRPr>
            </a:pPr>
            <a:r>
              <a:rPr b="1">
                <a:solidFill>
                  <a:srgbClr val="DC2626"/>
                </a:solidFill>
              </a:rPr>
              <a:t>对象时变失配: </a:t>
            </a:r>
            <a:r>
              <a:rPr b="0">
                <a:solidFill>
                  <a:srgbClr val="1E293B"/>
                </a:solidFill>
              </a:rPr>
              <a:t>当加热炉保温老化、电机负载扰动、液位非线性变化时，固定 PID 性能急剧恶化甚至发散。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Microsoft YaHei"/>
              </a:defRPr>
            </a:pPr>
            <a:r>
              <a:t>第一部分 · 经典与演进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智能演进：什么是模糊自适应 PID 控制？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49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563EB"/>
                </a:solidFill>
              </a:defRPr>
            </a:pPr>
            <a:r>
              <a:t>核心思路：将熟练操作员的“调参手感”数学量化为智能决策算法</a:t>
            </a:r>
          </a:p>
          <a:p>
            <a:pPr>
              <a:spcAft>
                <a:spcPts val="800"/>
              </a:spcAft>
              <a:defRPr sz="1300">
                <a:latin typeface="Microsoft YaHei"/>
              </a:defRPr>
            </a:pPr>
            <a:r>
              <a:rPr b="1">
                <a:solidFill>
                  <a:srgbClr val="1E3A8A"/>
                </a:solidFill>
              </a:rPr>
              <a:t>经验规则化: </a:t>
            </a:r>
            <a:r>
              <a:rPr b="0">
                <a:solidFill>
                  <a:srgbClr val="1E293B"/>
                </a:solidFill>
              </a:rPr>
              <a:t>人类工程师调参不是解复杂偏微分方程，而是凭逻辑经验——'误差大时加大比例快速拉近，接近目标时减小比例并加大阻尼防止过冲'；</a:t>
            </a:r>
          </a:p>
          <a:p>
            <a:pPr>
              <a:spcAft>
                <a:spcPts val="800"/>
              </a:spcAft>
              <a:defRPr sz="1300">
                <a:latin typeface="Microsoft YaHei"/>
              </a:defRPr>
            </a:pPr>
            <a:r>
              <a:rPr b="1">
                <a:solidFill>
                  <a:srgbClr val="1E3A8A"/>
                </a:solidFill>
              </a:rPr>
              <a:t>在线动态整定: </a:t>
            </a:r>
            <a:r>
              <a:rPr b="0">
                <a:solidFill>
                  <a:srgbClr val="1E293B"/>
                </a:solidFill>
              </a:rPr>
              <a:t>以实时误差 e(t) 和误差变化率 ec(t) 为输入，毫秒级在线计算 PID 增益修正量 ΔKp, ΔKi, ΔKd，让系统具备自主适应能力。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51206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02336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3A8A"/>
                </a:solidFill>
              </a:defRPr>
            </a:pPr>
            <a:r>
              <a:t>动态增益合成方程</a:t>
            </a:r>
          </a:p>
          <a:p>
            <a:pPr>
              <a:spcAft>
                <a:spcPts val="800"/>
              </a:spcAft>
              <a:defRPr sz="1300">
                <a:latin typeface="Microsoft YaHei"/>
              </a:defRPr>
            </a:pPr>
            <a:r>
              <a:rPr b="1">
                <a:solidFill>
                  <a:srgbClr val="1E3A8A"/>
                </a:solidFill>
              </a:rPr>
              <a:t>Kp(t) = </a:t>
            </a:r>
            <a:r>
              <a:rPr b="0">
                <a:solidFill>
                  <a:srgbClr val="1E293B"/>
                </a:solidFill>
              </a:rPr>
              <a:t>Kp0 + kup · ΔKp(e, ec)</a:t>
            </a:r>
          </a:p>
          <a:p>
            <a:pPr>
              <a:spcAft>
                <a:spcPts val="800"/>
              </a:spcAft>
              <a:defRPr sz="1300">
                <a:latin typeface="Microsoft YaHei"/>
              </a:defRPr>
            </a:pPr>
            <a:r>
              <a:rPr b="1">
                <a:solidFill>
                  <a:srgbClr val="1E3A8A"/>
                </a:solidFill>
              </a:rPr>
              <a:t>Ki(t) = </a:t>
            </a:r>
            <a:r>
              <a:rPr b="0">
                <a:solidFill>
                  <a:srgbClr val="1E293B"/>
                </a:solidFill>
              </a:rPr>
              <a:t>Ki0 + kui · ΔKi(e, ec)</a:t>
            </a:r>
          </a:p>
          <a:p>
            <a:pPr>
              <a:spcAft>
                <a:spcPts val="800"/>
              </a:spcAft>
              <a:defRPr sz="1300">
                <a:latin typeface="Microsoft YaHei"/>
              </a:defRPr>
            </a:pPr>
            <a:r>
              <a:rPr b="1">
                <a:solidFill>
                  <a:srgbClr val="1E3A8A"/>
                </a:solidFill>
              </a:rPr>
              <a:t>Kd(t) = </a:t>
            </a:r>
            <a:r>
              <a:rPr b="0">
                <a:solidFill>
                  <a:srgbClr val="1E293B"/>
                </a:solidFill>
              </a:rPr>
              <a:t>Kd0 + kud · ΔKd(e, ec)</a:t>
            </a:r>
          </a:p>
          <a:p>
            <a:pPr>
              <a:spcAft>
                <a:spcPts val="800"/>
              </a:spcAft>
              <a:defRPr sz="1100">
                <a:latin typeface="Microsoft YaHei"/>
              </a:defRPr>
            </a:pPr>
            <a:r>
              <a:rPr b="1">
                <a:solidFill>
                  <a:srgbClr val="1E3A8A"/>
                </a:solidFill>
              </a:rPr>
              <a:t>参数说明: </a:t>
            </a:r>
            <a:r>
              <a:rPr b="0">
                <a:solidFill>
                  <a:srgbClr val="1E293B"/>
                </a:solidFill>
              </a:rPr>
              <a:t>Kp0 为经验基准值，kup/kui/kud 为物理放大缩放因子。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840480"/>
            <a:ext cx="51206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402336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6A34A"/>
                </a:solidFill>
              </a:defRPr>
            </a:pPr>
            <a:r>
              <a:t>全工况自适应调节哲学</a:t>
            </a:r>
          </a:p>
          <a:p>
            <a:pPr>
              <a:spcAft>
                <a:spcPts val="800"/>
              </a:spcAft>
              <a:defRPr sz="1200">
                <a:latin typeface="Microsoft YaHei"/>
              </a:defRPr>
            </a:pPr>
            <a:r>
              <a:rPr b="1">
                <a:solidFill>
                  <a:srgbClr val="1E3A8A"/>
                </a:solidFill>
              </a:rPr>
              <a:t>大误差阶段 (|e|大): </a:t>
            </a:r>
            <a:r>
              <a:rPr b="0">
                <a:solidFill>
                  <a:srgbClr val="1E293B"/>
                </a:solidFill>
              </a:rPr>
              <a:t>大幅增加 Kp、清零/削弱 Ki，防止过早积分饱和，微调 Kd 提速；</a:t>
            </a:r>
          </a:p>
          <a:p>
            <a:pPr>
              <a:spcAft>
                <a:spcPts val="800"/>
              </a:spcAft>
              <a:defRPr sz="1200">
                <a:latin typeface="Microsoft YaHei"/>
              </a:defRPr>
            </a:pPr>
            <a:r>
              <a:rPr b="1">
                <a:solidFill>
                  <a:srgbClr val="1E3A8A"/>
                </a:solidFill>
              </a:rPr>
              <a:t>中误差阶段 (|e|中): </a:t>
            </a:r>
            <a:r>
              <a:rPr b="0">
                <a:solidFill>
                  <a:srgbClr val="1E293B"/>
                </a:solidFill>
              </a:rPr>
              <a:t>适度降低 Kp，适当增强 Kd 施加制动阻尼，Ki 维持中等水平；</a:t>
            </a:r>
          </a:p>
          <a:p>
            <a:pPr>
              <a:spcAft>
                <a:spcPts val="800"/>
              </a:spcAft>
              <a:defRPr sz="1200">
                <a:latin typeface="Microsoft YaHei"/>
              </a:defRPr>
            </a:pPr>
            <a:r>
              <a:rPr b="1">
                <a:solidFill>
                  <a:srgbClr val="1E3A8A"/>
                </a:solidFill>
              </a:rPr>
              <a:t>接近稳态 (|e|小): </a:t>
            </a:r>
            <a:r>
              <a:rPr b="0">
                <a:solidFill>
                  <a:srgbClr val="1E293B"/>
                </a:solidFill>
              </a:rPr>
              <a:t>大幅增加 Ki 彻底消静差，加大 Kd 避免小幅震荡，平稳收敛。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Microsoft YaHei"/>
              </a:defRPr>
            </a:pPr>
            <a:r>
              <a:t>第一部分 · 经典与演进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方案对比：传统固定 PID vs 模糊自适应 PID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206240"/>
                <a:gridCol w="4297680"/>
              </a:tblGrid>
              <a:tr h="653142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对比维度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传统固定 PID (Conventional PID)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模糊自适应 PID (Fuzzy Adaptive PID)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参数机制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运行全生命周期 Kp, Ki, Kd 恒定不变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毫秒级实时在线连续修正，增益动态自愈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模型依赖度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极高（严重依赖稳态线性化数学模型的精度）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低（融合数学模型与操作人员启发式经验规则）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非线性/时变鲁棒性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较差，面对参数漂移与大负荷跳变容易失稳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563EB"/>
                          </a:solidFill>
                          <a:latin typeface="Microsoft YaHei"/>
                        </a:defRPr>
                      </a:pPr>
                      <a:r>
                        <a:t>优异，具备主动降增益避过冲的“在线自救”能力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抗扰恢复速度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恢复较慢，往往伴随较长时间的二次波动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563EB"/>
                          </a:solidFill>
                          <a:latin typeface="Microsoft YaHei"/>
                        </a:defRPr>
                      </a:pPr>
                      <a:r>
                        <a:t>恢复快，动态感知误差变化率并提前制动跌落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计算开销与实现复杂度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极低（仅需数次离散加减乘除）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中等偏低（需模糊化、49条规则矩阵运算及重心法）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典型适用场景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线性定常、工作点恒定、抗扰要求适中的回路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强时滞、大惯性、变负载、非线性的复杂工业过程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Microsoft YaHei"/>
              </a:defRPr>
            </a:pPr>
            <a:r>
              <a:t>第二部分 · 核心机理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系统架构：模糊自适应闭环控制工作链路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246888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步骤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21945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F172A"/>
                </a:solidFill>
              </a:defRPr>
            </a:pPr>
            <a:r>
              <a:t>1. 误差计算与量化映射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将传感器采集的被控量 y(t) 与设定值 r(t) 求差，计算 e 与变化率 ec，乘量化因子 ke, kec 归一化映射到标准论域 [-3, +3]。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6304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0" y="1463040"/>
            <a:ext cx="2468880" cy="640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步骤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194560"/>
            <a:ext cx="21945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F172A"/>
                </a:solidFill>
              </a:defRPr>
            </a:pPr>
            <a:r>
              <a:t>2. 模糊推理机核心运算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对归一化输入计算 7 子集隶属度，通过代数积 T-范数激活 49 条专家规则矩阵，经零阶 Sugeno 重心加权得到 ΔKp, ΔKi, ΔKd。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2468880" cy="6400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步骤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94560"/>
            <a:ext cx="21945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F172A"/>
                </a:solidFill>
              </a:defRPr>
            </a:pPr>
            <a:r>
              <a:t>3. 增益动态合成与限幅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论域微调量乘上比例放大因子 (kup, kui, kud) 叠加到基准 PID 参数上，并施加物理安全保护边界防止参数跑飞。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46304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61120" y="1463040"/>
            <a:ext cx="2468880" cy="6400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步骤 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2194560"/>
            <a:ext cx="21945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F172A"/>
                </a:solidFill>
              </a:defRPr>
            </a:pPr>
            <a:r>
              <a:t>4. 抗积分饱和 PID 驱动对象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合成后的 Kp(t), Ki(t), Kd(t) 执行标准条件积分抗饱和算法，生成执行器控制量 u(t)，驱动被控对象闭环平稳运行。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Microsoft YaHei"/>
              </a:defRPr>
            </a:pPr>
            <a:r>
              <a:t>第二部分 · 核心机理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经验量化：隶属度函数设计与极端工况优化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3891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隶属度函数设计原则</a:t>
            </a:r>
          </a:p>
          <a:p>
            <a:pPr>
              <a:spcAft>
                <a:spcPts val="800"/>
              </a:spcAft>
              <a:defRPr sz="1200">
                <a:latin typeface="Microsoft YaHei"/>
              </a:defRPr>
            </a:pPr>
            <a:r>
              <a:rPr b="1">
                <a:solidFill>
                  <a:srgbClr val="1E3A8A"/>
                </a:solidFill>
              </a:rPr>
              <a:t>7 语言变量分级: </a:t>
            </a:r>
            <a:r>
              <a:rPr b="0">
                <a:solidFill>
                  <a:srgbClr val="1E293B"/>
                </a:solidFill>
              </a:rPr>
              <a:t>NB(负大), NM(负中), NS(负小), ZO(零), PS(正小), PM(正中), PB(正大)；</a:t>
            </a:r>
          </a:p>
          <a:p>
            <a:pPr>
              <a:spcAft>
                <a:spcPts val="800"/>
              </a:spcAft>
              <a:defRPr sz="1200">
                <a:latin typeface="Microsoft YaHei"/>
              </a:defRPr>
            </a:pPr>
            <a:r>
              <a:rPr b="1">
                <a:solidFill>
                  <a:srgbClr val="1E3A8A"/>
                </a:solidFill>
              </a:rPr>
              <a:t>函数选型依据: </a:t>
            </a:r>
            <a:r>
              <a:rPr b="0">
                <a:solidFill>
                  <a:srgbClr val="1E293B"/>
                </a:solidFill>
              </a:rPr>
              <a:t>两端大误差段采用饱和平顶梯形 (trapmf)，中段过渡区采用高灵敏度三角形 (trimf)；</a:t>
            </a:r>
          </a:p>
          <a:p>
            <a:pPr>
              <a:spcAft>
                <a:spcPts val="800"/>
              </a:spcAft>
              <a:defRPr sz="1200">
                <a:latin typeface="Microsoft YaHei"/>
              </a:defRPr>
            </a:pPr>
            <a:r>
              <a:rPr b="1">
                <a:solidFill>
                  <a:srgbClr val="DC2626"/>
                </a:solidFill>
              </a:rPr>
              <a:t>★ 答辩亮点（极端工况优化）: </a:t>
            </a:r>
            <a:r>
              <a:rPr b="0">
                <a:solidFill>
                  <a:srgbClr val="1E293B"/>
                </a:solidFill>
              </a:rPr>
              <a:t>NB与NM、PB与PM在斜坡段采用重叠设计，这是专门针对极端工况的'急刹车/大脚油门前置机制'；</a:t>
            </a:r>
          </a:p>
          <a:p>
            <a:pPr>
              <a:spcAft>
                <a:spcPts val="800"/>
              </a:spcAft>
              <a:defRPr sz="1200">
                <a:latin typeface="Microsoft YaHei"/>
              </a:defRPr>
            </a:pPr>
            <a:r>
              <a:rPr b="1">
                <a:solidFill>
                  <a:srgbClr val="1E3A8A"/>
                </a:solidFill>
              </a:rPr>
              <a:t>优化物理机制: </a:t>
            </a:r>
            <a:r>
              <a:rPr b="0">
                <a:solidFill>
                  <a:srgbClr val="1E293B"/>
                </a:solidFill>
              </a:rPr>
              <a:t>当误差刚超 1.0 时，PB/NB 就提前深度介入输出强修正量，避免了等到误差超限才滞后干预的问题。</a:t>
            </a:r>
          </a:p>
        </p:txBody>
      </p:sp>
      <p:pic>
        <p:nvPicPr>
          <p:cNvPr id="6" name="Picture 5" descr="F1_fuzzy_membership_fun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463040"/>
            <a:ext cx="6126480" cy="24942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Microsoft YaHei"/>
              </a:defRPr>
            </a:pPr>
            <a:r>
              <a:t>第二部分 · 核心机理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打破黑盒：49 条专家规则库与前件激活解剖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2062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3A8A"/>
                </a:solidFill>
              </a:defRPr>
            </a:pPr>
            <a:r>
              <a:t>典型工况切片机理解剖</a:t>
            </a:r>
          </a:p>
          <a:p>
            <a:pPr>
              <a:spcAft>
                <a:spcPts val="800"/>
              </a:spcAft>
              <a:defRPr sz="1200">
                <a:latin typeface="Microsoft YaHei"/>
              </a:defRPr>
            </a:pPr>
            <a:r>
              <a:rPr b="1">
                <a:solidFill>
                  <a:srgbClr val="1E3A8A"/>
                </a:solidFill>
              </a:rPr>
              <a:t>工况点切片: </a:t>
            </a:r>
            <a:r>
              <a:rPr b="0">
                <a:solidFill>
                  <a:srgbClr val="1E293B"/>
                </a:solidFill>
              </a:rPr>
              <a:t>e* = +2.1 (偏差大), ec* = -1.3 (正快速收敛)；</a:t>
            </a:r>
          </a:p>
          <a:p>
            <a:pPr>
              <a:spcAft>
                <a:spcPts val="800"/>
              </a:spcAft>
              <a:defRPr sz="1200">
                <a:latin typeface="Microsoft YaHei"/>
              </a:defRPr>
            </a:pPr>
            <a:r>
              <a:rPr b="1">
                <a:solidFill>
                  <a:srgbClr val="1E3A8A"/>
                </a:solidFill>
              </a:rPr>
              <a:t>交点模糊化: </a:t>
            </a:r>
            <a:r>
              <a:rPr b="0">
                <a:solidFill>
                  <a:srgbClr val="1E293B"/>
                </a:solidFill>
              </a:rPr>
              <a:t>e* 激活 PM(0.90) 与 PB(1.00)；ec* 激活 NM(0.30)、NS(0.70) 与 NB(0.30)；</a:t>
            </a:r>
          </a:p>
          <a:p>
            <a:pPr>
              <a:spcAft>
                <a:spcPts val="800"/>
              </a:spcAft>
              <a:defRPr sz="1200">
                <a:latin typeface="Microsoft YaHei"/>
              </a:defRPr>
            </a:pPr>
            <a:r>
              <a:rPr b="1">
                <a:solidFill>
                  <a:srgbClr val="1E3A8A"/>
                </a:solidFill>
              </a:rPr>
              <a:t>代数积 T-范数: </a:t>
            </a:r>
            <a:r>
              <a:rPr b="0">
                <a:solidFill>
                  <a:srgbClr val="1E293B"/>
                </a:solidFill>
              </a:rPr>
              <a:t>α_ij = μe(i) · μec(j)，右侧热力图精准激发出 6 条有效规则；</a:t>
            </a:r>
          </a:p>
          <a:p>
            <a:pPr>
              <a:spcAft>
                <a:spcPts val="800"/>
              </a:spcAft>
              <a:defRPr sz="1200">
                <a:latin typeface="Microsoft YaHei"/>
              </a:defRPr>
            </a:pPr>
            <a:r>
              <a:rPr b="1">
                <a:solidFill>
                  <a:srgbClr val="DC2626"/>
                </a:solidFill>
              </a:rPr>
              <a:t>协同决策指令: </a:t>
            </a:r>
            <a:r>
              <a:rPr b="0">
                <a:solidFill>
                  <a:srgbClr val="1E293B"/>
                </a:solidFill>
              </a:rPr>
              <a:t>系统综合评估 6 条建议，最终输出：ΔKp* = +1.781 (强加速)、ΔKi* = -0.834 (深防冲)、ΔKd* = +2.462 (大阻尼)。</a:t>
            </a:r>
          </a:p>
        </p:txBody>
      </p:sp>
      <p:pic>
        <p:nvPicPr>
          <p:cNvPr id="6" name="Picture 5" descr="F2_fuzzy_inference_anat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040"/>
            <a:ext cx="6309360" cy="21811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Microsoft YaHei"/>
              </a:defRPr>
            </a:pPr>
            <a:r>
              <a:t>第二部分 · 核心机理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严谨科研设计：反模糊化与“最强对最强”对比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1E3A8A"/>
                </a:solidFill>
              </a:defRPr>
            </a:pPr>
            <a:r>
              <a:t>清晰化数学算法</a:t>
            </a:r>
          </a:p>
          <a:p>
            <a:pPr>
              <a:spcAft>
                <a:spcPts val="800"/>
              </a:spcAft>
              <a:defRPr sz="1300">
                <a:latin typeface="Microsoft YaHei"/>
              </a:defRPr>
            </a:pPr>
            <a:r>
              <a:rPr b="1">
                <a:solidFill>
                  <a:srgbClr val="1E3A8A"/>
                </a:solidFill>
              </a:rPr>
              <a:t>单点加权重心法: </a:t>
            </a:r>
            <a:r>
              <a:rPr b="0">
                <a:solidFill>
                  <a:srgbClr val="1E293B"/>
                </a:solidFill>
              </a:rPr>
              <a:t>零阶 Sugeno 模型输出加权计算公式：</a:t>
            </a:r>
          </a:p>
          <a:p>
            <a:pPr>
              <a:spcAft>
                <a:spcPts val="800"/>
              </a:spcAft>
              <a:defRPr sz="1400">
                <a:latin typeface="Microsoft YaHei"/>
              </a:defRPr>
            </a:pPr>
            <a:r>
              <a:rPr b="1">
                <a:solidFill>
                  <a:srgbClr val="DC2626"/>
                </a:solidFill>
              </a:rPr>
              <a:t>ΔK* = </a:t>
            </a:r>
            <a:r>
              <a:rPr b="0">
                <a:solidFill>
                  <a:srgbClr val="1E293B"/>
                </a:solidFill>
              </a:rPr>
              <a:t>(Σ α_k · C_k) / (Σ α_k)</a:t>
            </a:r>
          </a:p>
          <a:p>
            <a:pPr>
              <a:spcAft>
                <a:spcPts val="800"/>
              </a:spcAft>
              <a:defRPr sz="1200">
                <a:latin typeface="Microsoft YaHei"/>
              </a:defRPr>
            </a:pPr>
            <a:r>
              <a:rPr b="1">
                <a:solidFill>
                  <a:srgbClr val="1E3A8A"/>
                </a:solidFill>
              </a:rPr>
              <a:t>实时平滑解算: </a:t>
            </a:r>
            <a:r>
              <a:rPr b="0">
                <a:solidFill>
                  <a:srgbClr val="1E293B"/>
                </a:solidFill>
              </a:rPr>
              <a:t>相比面积重心法，单点加权不仅与 Simulink/MATLAB 严格同源，且计算复杂度降低 90%，完全规避浮点震荡；</a:t>
            </a:r>
          </a:p>
          <a:p>
            <a:pPr>
              <a:spcAft>
                <a:spcPts val="800"/>
              </a:spcAft>
              <a:defRPr sz="1200">
                <a:latin typeface="Microsoft YaHei"/>
              </a:defRPr>
            </a:pPr>
            <a:r>
              <a:rPr b="1">
                <a:solidFill>
                  <a:srgbClr val="1E3A8A"/>
                </a:solidFill>
              </a:rPr>
              <a:t>物理增益映射: </a:t>
            </a:r>
            <a:r>
              <a:rPr b="0">
                <a:solidFill>
                  <a:srgbClr val="1E293B"/>
                </a:solidFill>
              </a:rPr>
              <a:t>真实增益由论域相对量 ΔK* 经缩放因子 (kup, kui, kud) 放大后叠加到初始基准上。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DC2626"/>
                </a:solidFill>
              </a:defRPr>
            </a:pPr>
            <a:r>
              <a:t>为什么提出“优化因子”对照组？</a:t>
            </a:r>
          </a:p>
          <a:p>
            <a:pPr>
              <a:spcAft>
                <a:spcPts val="800"/>
              </a:spcAft>
              <a:defRPr sz="1200">
                <a:latin typeface="Microsoft YaHei"/>
              </a:defRPr>
            </a:pPr>
            <a:r>
              <a:rPr b="1">
                <a:solidFill>
                  <a:srgbClr val="DC2626"/>
                </a:solidFill>
              </a:rPr>
              <a:t>规避学术对比陷阱: </a:t>
            </a:r>
            <a:r>
              <a:rPr b="0">
                <a:solidFill>
                  <a:srgbClr val="1E293B"/>
                </a:solidFill>
              </a:rPr>
              <a:t>很多论文拿未调优的烂 PID 与调优后的模糊比，得出虚假结论，缺乏说服力；</a:t>
            </a:r>
          </a:p>
          <a:p>
            <a:pPr>
              <a:spcAft>
                <a:spcPts val="800"/>
              </a:spcAft>
              <a:defRPr sz="1200">
                <a:latin typeface="Microsoft YaHei"/>
              </a:defRPr>
            </a:pPr>
            <a:r>
              <a:rPr b="1">
                <a:solidFill>
                  <a:srgbClr val="1E3A8A"/>
                </a:solidFill>
              </a:rPr>
              <a:t>构建极限对照组: </a:t>
            </a:r>
            <a:r>
              <a:rPr b="0">
                <a:solidFill>
                  <a:srgbClr val="1E293B"/>
                </a:solidFill>
              </a:rPr>
              <a:t>① 固定 PID 极限: 通过 Nelder-Mead 数值优化得出标称理论最强 'PID-ITAE最优'；</a:t>
            </a:r>
          </a:p>
          <a:p>
            <a:pPr>
              <a:spcAft>
                <a:spcPts val="800"/>
              </a:spcAft>
              <a:defRPr sz="1200">
                <a:latin typeface="Microsoft YaHei"/>
              </a:defRPr>
            </a:pPr>
            <a:r>
              <a:rPr b="1">
                <a:solidFill>
                  <a:srgbClr val="1E3A8A"/>
                </a:solidFill>
              </a:rPr>
              <a:t>② 模糊 PID 极限: </a:t>
            </a:r>
            <a:r>
              <a:rPr b="0">
                <a:solidFill>
                  <a:srgbClr val="1E293B"/>
                </a:solidFill>
              </a:rPr>
              <a:t>同等预算优化 kup, kui, kud 得到 '模糊自适应PID-优化因子'；</a:t>
            </a:r>
          </a:p>
          <a:p>
            <a:pPr>
              <a:spcAft>
                <a:spcPts val="800"/>
              </a:spcAft>
              <a:defRPr sz="1300">
                <a:latin typeface="Microsoft YaHei"/>
              </a:defRPr>
            </a:pPr>
            <a:r>
              <a:rPr b="1">
                <a:solidFill>
                  <a:srgbClr val="DC2626"/>
                </a:solidFill>
              </a:rPr>
              <a:t>最强对最强的硬核结论: </a:t>
            </a:r>
            <a:r>
              <a:rPr b="0">
                <a:solidFill>
                  <a:srgbClr val="1E293B"/>
                </a:solidFill>
              </a:rPr>
              <a:t>只有让两者均在最佳状态下同台竞技，得出的结论才真正经得起推敲！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Microsoft YaHei"/>
              </a:defRPr>
            </a:pPr>
            <a:r>
              <a:t>第三部分 · 场景落地与对比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场景一：工业电加热炉 (FOPDT) 标称实验对比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3A8A"/>
                </a:solidFill>
              </a:defRPr>
            </a:pPr>
            <a:r>
              <a:t>标称工况实测数据对比表</a:t>
            </a:r>
          </a:p>
          <a:p>
            <a:pPr>
              <a:spcAft>
                <a:spcPts val="800"/>
              </a:spcAft>
              <a:defRPr sz="1200">
                <a:latin typeface="Microsoft YaHei"/>
              </a:defRPr>
            </a:pPr>
            <a:r>
              <a:rPr b="1">
                <a:solidFill>
                  <a:srgbClr val="1E3A8A"/>
                </a:solidFill>
              </a:rPr>
              <a:t>被控对象: </a:t>
            </a:r>
            <a:r>
              <a:rPr b="0">
                <a:solidFill>
                  <a:srgbClr val="1E293B"/>
                </a:solidFill>
              </a:rPr>
              <a:t>一阶惯性纯滞后 G(s) = 1.5/(25s+1)·e^(-5s)</a:t>
            </a:r>
          </a:p>
          <a:p>
            <a:pPr>
              <a:spcAft>
                <a:spcPts val="800"/>
              </a:spcAft>
              <a:defRPr sz="1200">
                <a:latin typeface="Microsoft YaHei"/>
              </a:defRPr>
            </a:pPr>
            <a:r>
              <a:rPr b="1">
                <a:solidFill>
                  <a:srgbClr val="DC2626"/>
                </a:solidFill>
              </a:rPr>
              <a:t>PID-无抗饱和: </a:t>
            </a:r>
            <a:r>
              <a:rPr b="0">
                <a:solidFill>
                  <a:srgbClr val="1E293B"/>
                </a:solidFill>
              </a:rPr>
              <a:t>超调 σ1=16.67%, ITAE=113,543 (积分严重饱和)</a:t>
            </a:r>
          </a:p>
          <a:p>
            <a:pPr>
              <a:spcAft>
                <a:spcPts val="800"/>
              </a:spcAft>
              <a:defRPr sz="1200">
                <a:latin typeface="Microsoft YaHei"/>
              </a:defRPr>
            </a:pPr>
            <a:r>
              <a:rPr b="1">
                <a:solidFill>
                  <a:srgbClr val="1E3A8A"/>
                </a:solidFill>
              </a:rPr>
              <a:t>PID-抗饱和: </a:t>
            </a:r>
            <a:r>
              <a:rPr b="0">
                <a:solidFill>
                  <a:srgbClr val="1E293B"/>
                </a:solidFill>
              </a:rPr>
              <a:t>超调 σ1=0.00%, ITAE=126,057, 调节变慢</a:t>
            </a:r>
          </a:p>
          <a:p>
            <a:pPr>
              <a:spcAft>
                <a:spcPts val="800"/>
              </a:spcAft>
              <a:defRPr sz="1200">
                <a:latin typeface="Microsoft YaHei"/>
              </a:defRPr>
            </a:pPr>
            <a:r>
              <a:rPr b="1">
                <a:solidFill>
                  <a:srgbClr val="1E3A8A"/>
                </a:solidFill>
              </a:rPr>
              <a:t>PID-ITAE最优: </a:t>
            </a:r>
            <a:r>
              <a:rPr b="0">
                <a:solidFill>
                  <a:srgbClr val="1E293B"/>
                </a:solidFill>
              </a:rPr>
              <a:t>超调 σ1=0.00%, ITAE=64,522 (固定参数天花板)</a:t>
            </a:r>
          </a:p>
          <a:p>
            <a:pPr>
              <a:spcAft>
                <a:spcPts val="800"/>
              </a:spcAft>
              <a:defRPr sz="1200">
                <a:latin typeface="Microsoft YaHei"/>
              </a:defRPr>
            </a:pPr>
            <a:r>
              <a:rPr b="1">
                <a:solidFill>
                  <a:srgbClr val="DC2626"/>
                </a:solidFill>
              </a:rPr>
              <a:t>模糊优化因子: </a:t>
            </a:r>
            <a:r>
              <a:rPr b="0">
                <a:solidFill>
                  <a:srgbClr val="1E293B"/>
                </a:solidFill>
              </a:rPr>
              <a:t>超调 σ1=0.16%, ITAE=63,585 (小幅领先 1.5%)</a:t>
            </a:r>
          </a:p>
          <a:p>
            <a:pPr>
              <a:spcAft>
                <a:spcPts val="800"/>
              </a:spcAft>
              <a:defRPr sz="1200">
                <a:latin typeface="Microsoft YaHei"/>
              </a:defRPr>
            </a:pPr>
            <a:r>
              <a:rPr b="1">
                <a:solidFill>
                  <a:srgbClr val="1E3A8A"/>
                </a:solidFill>
              </a:rPr>
              <a:t>思考悬念: </a:t>
            </a:r>
            <a:r>
              <a:rPr b="0">
                <a:solidFill>
                  <a:srgbClr val="1E293B"/>
                </a:solidFill>
              </a:rPr>
              <a:t>精心整定的固定 PID 表现已近乎完美，模糊控制优势不明显，那为什么还要付出算力用它？</a:t>
            </a:r>
          </a:p>
        </p:txBody>
      </p:sp>
      <p:pic>
        <p:nvPicPr>
          <p:cNvPr id="6" name="Picture 5" descr="1_temperature_power_disturbance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463040"/>
            <a:ext cx="5394960" cy="586408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Microsoft YaHei"/>
              </a:defRPr>
            </a:pPr>
            <a:r>
              <a:t>第三部分 · 场景落地与对比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灵魂大考：E7 参数在线突变实验（自适应核心价值）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846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480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DC2626"/>
                </a:solidFill>
              </a:defRPr>
            </a:pPr>
            <a:r>
              <a:t>稳态下对象增益 K 瞬间翻倍 (1.5 → 3.0)</a:t>
            </a:r>
          </a:p>
          <a:p>
            <a:pPr>
              <a:spcAft>
                <a:spcPts val="800"/>
              </a:spcAft>
              <a:defRPr sz="1200">
                <a:latin typeface="Microsoft YaHei"/>
              </a:defRPr>
            </a:pPr>
            <a:r>
              <a:rPr b="1">
                <a:solidFill>
                  <a:srgbClr val="1E3A8A"/>
                </a:solidFill>
              </a:rPr>
              <a:t>实验设计: </a:t>
            </a:r>
            <a:r>
              <a:rPr b="0">
                <a:solidFill>
                  <a:srgbClr val="1E293B"/>
                </a:solidFill>
              </a:rPr>
              <a:t>t=80s 稳态时强行将对象 K 加倍，模拟物性突变；参数全程冻结不许重调；</a:t>
            </a:r>
          </a:p>
          <a:p>
            <a:pPr>
              <a:spcAft>
                <a:spcPts val="800"/>
              </a:spcAft>
              <a:defRPr sz="1200">
                <a:latin typeface="Microsoft YaHei"/>
              </a:defRPr>
            </a:pPr>
            <a:r>
              <a:rPr b="1">
                <a:solidFill>
                  <a:srgbClr val="DC2626"/>
                </a:solidFill>
              </a:rPr>
              <a:t>常规抗饱和 PID: </a:t>
            </a:r>
            <a:r>
              <a:rPr b="0">
                <a:solidFill>
                  <a:srgbClr val="1E293B"/>
                </a:solidFill>
              </a:rPr>
              <a:t>增益过大失配，冲出 21.76% 的灾难性超调！</a:t>
            </a:r>
          </a:p>
          <a:p>
            <a:pPr>
              <a:spcAft>
                <a:spcPts val="800"/>
              </a:spcAft>
              <a:defRPr sz="1200">
                <a:latin typeface="Microsoft YaHei"/>
              </a:defRPr>
            </a:pPr>
            <a:r>
              <a:rPr b="1">
                <a:solidFill>
                  <a:srgbClr val="1E3A8A"/>
                </a:solidFill>
              </a:rPr>
              <a:t>PID-ITAE最优: </a:t>
            </a:r>
            <a:r>
              <a:rPr b="0">
                <a:solidFill>
                  <a:srgbClr val="1E293B"/>
                </a:solidFill>
              </a:rPr>
              <a:t>虽经优化但抗突变能力有限，产生 8.02% 超调；</a:t>
            </a:r>
          </a:p>
          <a:p>
            <a:pPr>
              <a:spcAft>
                <a:spcPts val="800"/>
              </a:spcAft>
              <a:defRPr sz="1300">
                <a:latin typeface="Microsoft YaHei"/>
              </a:defRPr>
            </a:pPr>
            <a:r>
              <a:rPr b="1">
                <a:solidFill>
                  <a:srgbClr val="DC2626"/>
                </a:solidFill>
              </a:rPr>
              <a:t>模糊自适应 PID: </a:t>
            </a:r>
            <a:r>
              <a:rPr b="0">
                <a:solidFill>
                  <a:srgbClr val="1E293B"/>
                </a:solidFill>
              </a:rPr>
              <a:t>超调被死死压制在 6.18%（比最优固定 PID 再降低 23%！）</a:t>
            </a:r>
          </a:p>
          <a:p>
            <a:pPr>
              <a:spcAft>
                <a:spcPts val="800"/>
              </a:spcAft>
              <a:defRPr sz="1300">
                <a:latin typeface="Microsoft YaHei"/>
              </a:defRPr>
            </a:pPr>
            <a:r>
              <a:rPr b="1">
                <a:solidFill>
                  <a:srgbClr val="DC2626"/>
                </a:solidFill>
              </a:rPr>
              <a:t>核心结论: </a:t>
            </a:r>
            <a:r>
              <a:rPr b="0">
                <a:solidFill>
                  <a:srgbClr val="1E293B"/>
                </a:solidFill>
              </a:rPr>
              <a:t>模糊控制的真正价值不是在标称工况锦上添花，而是在参数突变时能够'在线自救'！</a:t>
            </a:r>
          </a:p>
        </p:txBody>
      </p:sp>
      <p:pic>
        <p:nvPicPr>
          <p:cNvPr id="6" name="Picture 5" descr="E7_param_ju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463040"/>
            <a:ext cx="5669280" cy="542062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Microsoft YaHei"/>
              </a:defRPr>
            </a:pPr>
            <a:r>
              <a:t>第三部分 · 场景落地与对比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场景二：直流伺服电机转速控制（快速机电与变惯量）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846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480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3A8A"/>
                </a:solidFill>
              </a:defRPr>
            </a:pPr>
            <a:r>
              <a:t>机电耦合二阶系统实测表现</a:t>
            </a:r>
          </a:p>
          <a:p>
            <a:pPr>
              <a:spcAft>
                <a:spcPts val="800"/>
              </a:spcAft>
              <a:defRPr sz="1200">
                <a:latin typeface="Microsoft YaHei"/>
              </a:defRPr>
            </a:pPr>
            <a:r>
              <a:rPr b="1">
                <a:solidFill>
                  <a:srgbClr val="1E3A8A"/>
                </a:solidFill>
              </a:rPr>
              <a:t>物理对象特性: </a:t>
            </a:r>
            <a:r>
              <a:rPr b="0">
                <a:solidFill>
                  <a:srgbClr val="1E293B"/>
                </a:solidFill>
              </a:rPr>
              <a:t>电枢电感 La 与机械惯量 J0 耦合，毫秒级快速动态响应；</a:t>
            </a:r>
          </a:p>
          <a:p>
            <a:pPr>
              <a:spcAft>
                <a:spcPts val="800"/>
              </a:spcAft>
              <a:defRPr sz="1200">
                <a:latin typeface="Microsoft YaHei"/>
              </a:defRPr>
            </a:pPr>
            <a:r>
              <a:rPr b="1">
                <a:solidFill>
                  <a:srgbClr val="1E3A8A"/>
                </a:solidFill>
              </a:rPr>
              <a:t>复杂恶劣工况: </a:t>
            </a:r>
            <a:r>
              <a:rPr b="0">
                <a:solidFill>
                  <a:srgbClr val="1E293B"/>
                </a:solidFill>
              </a:rPr>
              <a:t>0→100 rad/s 起动；t=2.0s 突加 0.25 N·m 负载；t=3.8s 机械惯量暴增 2.5 倍并加速；</a:t>
            </a:r>
          </a:p>
          <a:p>
            <a:pPr>
              <a:spcAft>
                <a:spcPts val="800"/>
              </a:spcAft>
              <a:defRPr sz="1200">
                <a:latin typeface="Microsoft YaHei"/>
              </a:defRPr>
            </a:pPr>
            <a:r>
              <a:rPr b="1">
                <a:solidFill>
                  <a:srgbClr val="DC2626"/>
                </a:solidFill>
              </a:rPr>
              <a:t>起动超调表现: </a:t>
            </a:r>
            <a:r>
              <a:rPr b="0">
                <a:solidFill>
                  <a:srgbClr val="1E293B"/>
                </a:solidFill>
              </a:rPr>
              <a:t>普通固定 PID 产生 64.4% 剧烈超调，模糊控制做到 0.00% 绝对无超调快速入位；</a:t>
            </a:r>
          </a:p>
          <a:p>
            <a:pPr>
              <a:spcAft>
                <a:spcPts val="800"/>
              </a:spcAft>
              <a:defRPr sz="1200">
                <a:latin typeface="Microsoft YaHei"/>
              </a:defRPr>
            </a:pPr>
            <a:r>
              <a:rPr b="1">
                <a:solidFill>
                  <a:srgbClr val="1E3A8A"/>
                </a:solidFill>
              </a:rPr>
              <a:t>变惯量适应能力: </a:t>
            </a:r>
            <a:r>
              <a:rPr b="0">
                <a:solidFill>
                  <a:srgbClr val="1E293B"/>
                </a:solidFill>
              </a:rPr>
              <a:t>惯量翻倍提速阶段，模糊控制器凭借快速在线重估阻尼，维持平滑过渡。</a:t>
            </a:r>
          </a:p>
        </p:txBody>
      </p:sp>
      <p:pic>
        <p:nvPicPr>
          <p:cNvPr id="6" name="Picture 5" descr="M1_motor_response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463040"/>
            <a:ext cx="5669280" cy="640875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Microsoft YaHei"/>
              </a:defRPr>
            </a:pPr>
            <a:r>
              <a:t>第三部分 · 场景落地与对比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场景三：双容串联液位过程（大惯性与反向阶跃）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3891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3A8A"/>
                </a:solidFill>
              </a:defRPr>
            </a:pPr>
            <a:r>
              <a:t>双容液位过程实测表现</a:t>
            </a:r>
          </a:p>
          <a:p>
            <a:pPr>
              <a:spcAft>
                <a:spcPts val="800"/>
              </a:spcAft>
              <a:defRPr sz="1200">
                <a:latin typeface="Microsoft YaHei"/>
              </a:defRPr>
            </a:pPr>
            <a:r>
              <a:rPr b="1">
                <a:solidFill>
                  <a:srgbClr val="1E3A8A"/>
                </a:solidFill>
              </a:rPr>
              <a:t>串联时滞机理: </a:t>
            </a:r>
            <a:r>
              <a:rPr b="0">
                <a:solidFill>
                  <a:srgbClr val="1E293B"/>
                </a:solidFill>
              </a:rPr>
              <a:t>上下游两个容器串联，上游槽液位先动，二阶传递存在明显阶段滞后；</a:t>
            </a:r>
          </a:p>
          <a:p>
            <a:pPr>
              <a:spcAft>
                <a:spcPts val="800"/>
              </a:spcAft>
              <a:defRPr sz="1200">
                <a:latin typeface="Microsoft YaHei"/>
              </a:defRPr>
            </a:pPr>
            <a:r>
              <a:rPr b="1">
                <a:solidFill>
                  <a:srgbClr val="DC2626"/>
                </a:solidFill>
              </a:rPr>
              <a:t>反向降液二次超调: </a:t>
            </a:r>
            <a:r>
              <a:rPr b="0">
                <a:solidFill>
                  <a:srgbClr val="1E293B"/>
                </a:solidFill>
              </a:rPr>
              <a:t>在 60%→40% 快速降液阶段，固定最优 PID 因积分项积存产生 4.29% 的二次下冲超调；</a:t>
            </a:r>
          </a:p>
          <a:p>
            <a:pPr>
              <a:spcAft>
                <a:spcPts val="800"/>
              </a:spcAft>
              <a:defRPr sz="1200">
                <a:latin typeface="Microsoft YaHei"/>
              </a:defRPr>
            </a:pPr>
            <a:r>
              <a:rPr b="1">
                <a:solidFill>
                  <a:srgbClr val="DC2626"/>
                </a:solidFill>
              </a:rPr>
              <a:t>模糊精准退让: </a:t>
            </a:r>
            <a:r>
              <a:rPr b="0">
                <a:solidFill>
                  <a:srgbClr val="1E293B"/>
                </a:solidFill>
              </a:rPr>
              <a:t>模糊控制器智能调减积分输出，实现了 0.00% 的绝对无超调平滑沉降；</a:t>
            </a:r>
          </a:p>
          <a:p>
            <a:pPr>
              <a:spcAft>
                <a:spcPts val="800"/>
              </a:spcAft>
              <a:defRPr sz="1200">
                <a:latin typeface="Microsoft YaHei"/>
              </a:defRPr>
            </a:pPr>
            <a:r>
              <a:rPr b="1">
                <a:solidFill>
                  <a:srgbClr val="1E3A8A"/>
                </a:solidFill>
              </a:rPr>
              <a:t>雷达图全面领先: </a:t>
            </a:r>
            <a:r>
              <a:rPr b="0">
                <a:solidFill>
                  <a:srgbClr val="1E293B"/>
                </a:solidFill>
              </a:rPr>
              <a:t>在抗饱和占空比、防超调、快速调节等维度全面领先（见右侧雷达图外圈包络）。</a:t>
            </a:r>
          </a:p>
        </p:txBody>
      </p:sp>
      <p:pic>
        <p:nvPicPr>
          <p:cNvPr id="6" name="Picture 5" descr="L5_level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463040"/>
            <a:ext cx="6126480" cy="540045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Microsoft YaHei"/>
              </a:defRPr>
            </a:pPr>
            <a:r>
              <a:t>总结与反思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工程反思：模糊自适应控制的辩证思考与选型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383280" cy="7315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法则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</a:defRPr>
            </a:pPr>
            <a:r>
              <a:t>没有免费的午餐 (No Free Lunch)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模糊控制显著提升了极端时变工况下的鲁棒性，但代价是：① 每次采样均需执行规则推理矩阵，增加控制器算力开销；② 控制量变化量 (TV 指标) 略高，阀门等机械执行器动作更频繁。必须在鲁棒性与机械磨损之间权衡。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463040"/>
            <a:ext cx="3383280" cy="7315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法则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37744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</a:defRPr>
            </a:pPr>
            <a:r>
              <a:t>基准参数是灵魂与底座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模糊自适应输出的 ΔK 范围通常在 [-3, +3]，乘以缩放因子后本质上是'基准 PID 上的微调补偿'。如果初始基准 Kp0, Ki0, Kd0 严重失配，单纯靠模糊规则无法从根本上拯救系统。必须先调好基准，再加模糊自适应。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383280" cy="7315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法则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37744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</a:defRPr>
            </a:pPr>
            <a:r>
              <a:t>工业控制选型实用法则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① 线性、定常、工作点恒定的温和回路：老老实实采用经过数值整定的经典抗积分饱和 PID，成本最低、可靠性最高；</a:t>
            </a:r>
            <a:br/>
            <a:r>
              <a:t>② 强时滞、参数时变、经常面临大冲击/大阶跃的极端恶劣回路：果断采用模糊自适应 PID，发挥自适应自救优势。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011680"/>
            <a:ext cx="8503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汇报结束，感谢各位评委老师！</a:t>
            </a:r>
          </a:p>
          <a:p>
            <a:pPr algn="ctr">
              <a:spcAft>
                <a:spcPts val="2800"/>
              </a:spcAft>
              <a:defRPr sz="1800">
                <a:solidFill>
                  <a:srgbClr val="38BDF8"/>
                </a:solidFill>
                <a:latin typeface="Microsoft YaHei"/>
              </a:defRPr>
            </a:pPr>
            <a:r>
              <a:t>恳请各位老师批评指正</a:t>
            </a:r>
          </a:p>
          <a:p>
            <a:pPr algn="ctr">
              <a:defRPr sz="1400" b="1">
                <a:solidFill>
                  <a:srgbClr val="94A3B8"/>
                </a:solidFill>
                <a:latin typeface="Microsoft YaHei"/>
              </a:defRPr>
            </a:pPr>
            <a:r>
              <a:t>Q &amp; A  /  提 问 环 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