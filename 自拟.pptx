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media/image25.webp" ContentType="image/webp"/>
  <Override PartName="/ppt/media/image30.webp" ContentType="image/webp"/>
  <Override PartName="/ppt/media/image3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454" r:id="rId3"/>
    <p:sldId id="257" r:id="rId5"/>
    <p:sldId id="365" r:id="rId6"/>
    <p:sldId id="366" r:id="rId7"/>
    <p:sldId id="455" r:id="rId8"/>
    <p:sldId id="456" r:id="rId9"/>
    <p:sldId id="457" r:id="rId10"/>
    <p:sldId id="458" r:id="rId11"/>
    <p:sldId id="407" r:id="rId12"/>
    <p:sldId id="413" r:id="rId13"/>
    <p:sldId id="408" r:id="rId14"/>
    <p:sldId id="414" r:id="rId15"/>
    <p:sldId id="441" r:id="rId16"/>
    <p:sldId id="355" r:id="rId17"/>
    <p:sldId id="460" r:id="rId18"/>
    <p:sldId id="461" r:id="rId19"/>
    <p:sldId id="463" r:id="rId20"/>
    <p:sldId id="464" r:id="rId21"/>
    <p:sldId id="465" r:id="rId22"/>
    <p:sldId id="470" r:id="rId23"/>
    <p:sldId id="467" r:id="rId24"/>
    <p:sldId id="468" r:id="rId25"/>
    <p:sldId id="473" r:id="rId26"/>
    <p:sldId id="469" r:id="rId27"/>
    <p:sldId id="472" r:id="rId28"/>
    <p:sldId id="474" r:id="rId29"/>
    <p:sldId id="471" r:id="rId30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仿宋" panose="02010609060101010101" charset="-122"/>
      <p:regular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572" userDrawn="1">
          <p15:clr>
            <a:srgbClr val="A4A3A4"/>
          </p15:clr>
        </p15:guide>
        <p15:guide id="6" orient="horz" pos="576" userDrawn="1">
          <p15:clr>
            <a:srgbClr val="A4A3A4"/>
          </p15:clr>
        </p15:guide>
        <p15:guide id="8" orient="horz" pos="3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309"/>
    <a:srgbClr val="4A66AC"/>
    <a:srgbClr val="BFD1E1"/>
    <a:srgbClr val="8DB3D8"/>
    <a:srgbClr val="8DB3D9"/>
    <a:srgbClr val="006AB9"/>
    <a:srgbClr val="EE8310"/>
    <a:srgbClr val="E3C01B"/>
    <a:srgbClr val="7AA6D2"/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33" d="100"/>
          <a:sy n="33" d="100"/>
        </p:scale>
        <p:origin x="1626" y="1722"/>
      </p:cViewPr>
      <p:guideLst>
        <p:guide orient="horz" pos="2160"/>
        <p:guide pos="572"/>
        <p:guide orient="horz" pos="576"/>
        <p:guide orient="horz" pos="39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7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 userDrawn="1"/>
        </p:nvGrpSpPr>
        <p:grpSpPr>
          <a:xfrm>
            <a:off x="-1" y="0"/>
            <a:ext cx="4476212" cy="3952240"/>
            <a:chOff x="-1" y="0"/>
            <a:chExt cx="4476212" cy="3952240"/>
          </a:xfrm>
        </p:grpSpPr>
        <p:sp>
          <p:nvSpPr>
            <p:cNvPr id="45" name="矩形 44"/>
            <p:cNvSpPr/>
            <p:nvPr/>
          </p:nvSpPr>
          <p:spPr>
            <a:xfrm>
              <a:off x="1" y="0"/>
              <a:ext cx="4476210" cy="3952240"/>
            </a:xfrm>
            <a:prstGeom prst="rect">
              <a:avLst/>
            </a:prstGeom>
            <a:blipFill dpi="0" rotWithShape="1">
              <a:blip r:embed="rId2">
                <a:alphaModFix amt="32000"/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1" y="0"/>
              <a:ext cx="4476212" cy="3248622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 userDrawn="1"/>
        </p:nvGrpSpPr>
        <p:grpSpPr>
          <a:xfrm flipH="1" flipV="1">
            <a:off x="7715791" y="2905760"/>
            <a:ext cx="4476212" cy="3952240"/>
            <a:chOff x="-2" y="0"/>
            <a:chExt cx="4556761" cy="4023360"/>
          </a:xfrm>
        </p:grpSpPr>
        <p:sp>
          <p:nvSpPr>
            <p:cNvPr id="48" name="矩形 47"/>
            <p:cNvSpPr/>
            <p:nvPr/>
          </p:nvSpPr>
          <p:spPr>
            <a:xfrm>
              <a:off x="0" y="0"/>
              <a:ext cx="4556759" cy="4023360"/>
            </a:xfrm>
            <a:prstGeom prst="rect">
              <a:avLst/>
            </a:prstGeom>
            <a:blipFill dpi="0" rotWithShape="1">
              <a:blip r:embed="rId2">
                <a:alphaModFix amt="32000"/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2" y="0"/>
              <a:ext cx="4556761" cy="3307080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 userDrawn="1"/>
        </p:nvGrpSpPr>
        <p:grpSpPr>
          <a:xfrm>
            <a:off x="3694939" y="1976120"/>
            <a:ext cx="4802125" cy="961991"/>
            <a:chOff x="3694939" y="1547441"/>
            <a:chExt cx="4802125" cy="961991"/>
          </a:xfrm>
        </p:grpSpPr>
        <p:cxnSp>
          <p:nvCxnSpPr>
            <p:cNvPr id="59" name="直接连接符 49"/>
            <p:cNvCxnSpPr/>
            <p:nvPr/>
          </p:nvCxnSpPr>
          <p:spPr>
            <a:xfrm>
              <a:off x="3694939" y="1547441"/>
              <a:ext cx="4802124" cy="0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2"/>
            <p:cNvCxnSpPr/>
            <p:nvPr/>
          </p:nvCxnSpPr>
          <p:spPr>
            <a:xfrm>
              <a:off x="8497064" y="1547441"/>
              <a:ext cx="0" cy="961991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52"/>
            <p:cNvCxnSpPr/>
            <p:nvPr/>
          </p:nvCxnSpPr>
          <p:spPr>
            <a:xfrm>
              <a:off x="3694939" y="1547441"/>
              <a:ext cx="0" cy="961991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 userDrawn="1"/>
        </p:nvGrpSpPr>
        <p:grpSpPr>
          <a:xfrm flipV="1">
            <a:off x="3694939" y="4182182"/>
            <a:ext cx="4802125" cy="961991"/>
            <a:chOff x="3694939" y="1547441"/>
            <a:chExt cx="4802125" cy="961991"/>
          </a:xfrm>
        </p:grpSpPr>
        <p:cxnSp>
          <p:nvCxnSpPr>
            <p:cNvPr id="63" name="直接连接符 49"/>
            <p:cNvCxnSpPr/>
            <p:nvPr/>
          </p:nvCxnSpPr>
          <p:spPr>
            <a:xfrm>
              <a:off x="3694939" y="1547441"/>
              <a:ext cx="4802124" cy="0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52"/>
            <p:cNvCxnSpPr/>
            <p:nvPr/>
          </p:nvCxnSpPr>
          <p:spPr>
            <a:xfrm>
              <a:off x="8497064" y="1547441"/>
              <a:ext cx="0" cy="961991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52"/>
            <p:cNvCxnSpPr/>
            <p:nvPr/>
          </p:nvCxnSpPr>
          <p:spPr>
            <a:xfrm>
              <a:off x="3694939" y="1547441"/>
              <a:ext cx="0" cy="961991"/>
            </a:xfrm>
            <a:prstGeom prst="line">
              <a:avLst/>
            </a:prstGeom>
            <a:ln w="32131" cap="sq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301904" y="657982"/>
            <a:ext cx="3773516" cy="1206869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dirty="0">
                <a:solidFill>
                  <a:schemeClr val="accent1"/>
                </a:solidFill>
                <a:latin typeface="+mj-ea"/>
                <a:ea typeface="+mj-ea"/>
                <a:cs typeface="Calibri" panose="020F0502020204030204" pitchFamily="34" charset="0"/>
              </a:rPr>
              <a:t>目录</a:t>
            </a:r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Calibri" panose="020F0502020204030204" pitchFamily="34" charset="0"/>
              </a:rPr>
              <a:t>/</a:t>
            </a:r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Calibri" panose="020F0502020204030204" pitchFamily="34" charset="0"/>
              </a:rPr>
              <a:t>CONTENTS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-1" y="0"/>
            <a:ext cx="3200214" cy="2825607"/>
            <a:chOff x="-1" y="0"/>
            <a:chExt cx="4476212" cy="3952240"/>
          </a:xfrm>
        </p:grpSpPr>
        <p:sp>
          <p:nvSpPr>
            <p:cNvPr id="65" name="矩形 64"/>
            <p:cNvSpPr/>
            <p:nvPr/>
          </p:nvSpPr>
          <p:spPr>
            <a:xfrm>
              <a:off x="1" y="0"/>
              <a:ext cx="4476210" cy="395224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1" y="0"/>
              <a:ext cx="4476212" cy="3248622"/>
            </a:xfrm>
            <a:prstGeom prst="rect">
              <a:avLst/>
            </a:prstGeom>
          </p:spPr>
        </p:pic>
      </p:grpSp>
      <p:grpSp>
        <p:nvGrpSpPr>
          <p:cNvPr id="67" name="组合 66"/>
          <p:cNvGrpSpPr/>
          <p:nvPr userDrawn="1"/>
        </p:nvGrpSpPr>
        <p:grpSpPr>
          <a:xfrm flipH="1" flipV="1">
            <a:off x="8831967" y="3891280"/>
            <a:ext cx="3360036" cy="2966720"/>
            <a:chOff x="-2" y="0"/>
            <a:chExt cx="4556761" cy="4023360"/>
          </a:xfrm>
        </p:grpSpPr>
        <p:sp>
          <p:nvSpPr>
            <p:cNvPr id="68" name="矩形 67"/>
            <p:cNvSpPr/>
            <p:nvPr/>
          </p:nvSpPr>
          <p:spPr>
            <a:xfrm>
              <a:off x="0" y="0"/>
              <a:ext cx="4556759" cy="402336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2" y="0"/>
              <a:ext cx="4556761" cy="330708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1" y="0"/>
            <a:ext cx="3200214" cy="2825607"/>
            <a:chOff x="-1" y="0"/>
            <a:chExt cx="4476212" cy="3952240"/>
          </a:xfrm>
        </p:grpSpPr>
        <p:sp>
          <p:nvSpPr>
            <p:cNvPr id="3" name="矩形 2"/>
            <p:cNvSpPr/>
            <p:nvPr/>
          </p:nvSpPr>
          <p:spPr>
            <a:xfrm>
              <a:off x="1" y="0"/>
              <a:ext cx="4476210" cy="395224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1" y="0"/>
              <a:ext cx="4476212" cy="3248622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 userDrawn="1"/>
        </p:nvGrpSpPr>
        <p:grpSpPr>
          <a:xfrm flipH="1" flipV="1">
            <a:off x="8831967" y="3891280"/>
            <a:ext cx="3360036" cy="2966720"/>
            <a:chOff x="-2" y="0"/>
            <a:chExt cx="4556761" cy="4023360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4556759" cy="402336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2" y="0"/>
              <a:ext cx="4556761" cy="330708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1" y="1"/>
            <a:ext cx="1797964" cy="1587500"/>
            <a:chOff x="-1" y="0"/>
            <a:chExt cx="4476212" cy="3952240"/>
          </a:xfrm>
        </p:grpSpPr>
        <p:sp>
          <p:nvSpPr>
            <p:cNvPr id="3" name="矩形 2"/>
            <p:cNvSpPr/>
            <p:nvPr/>
          </p:nvSpPr>
          <p:spPr>
            <a:xfrm>
              <a:off x="1" y="0"/>
              <a:ext cx="4476210" cy="395224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1" y="0"/>
              <a:ext cx="4476212" cy="3248622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 userDrawn="1"/>
        </p:nvGrpSpPr>
        <p:grpSpPr>
          <a:xfrm flipH="1" flipV="1">
            <a:off x="10868701" y="5689600"/>
            <a:ext cx="1323302" cy="1168400"/>
            <a:chOff x="-2" y="0"/>
            <a:chExt cx="4556761" cy="4023360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4556759" cy="402336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2" y="0"/>
              <a:ext cx="4556761" cy="3307080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 userDrawn="1"/>
        </p:nvGrpSpPr>
        <p:grpSpPr>
          <a:xfrm flipH="1">
            <a:off x="10394036" y="1"/>
            <a:ext cx="1797964" cy="1587500"/>
            <a:chOff x="-1" y="0"/>
            <a:chExt cx="4476212" cy="3952240"/>
          </a:xfrm>
        </p:grpSpPr>
        <p:sp>
          <p:nvSpPr>
            <p:cNvPr id="9" name="矩形 8"/>
            <p:cNvSpPr/>
            <p:nvPr/>
          </p:nvSpPr>
          <p:spPr>
            <a:xfrm>
              <a:off x="1" y="0"/>
              <a:ext cx="4476210" cy="395224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1" y="0"/>
              <a:ext cx="4476212" cy="324862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 userDrawn="1"/>
        </p:nvGrpSpPr>
        <p:grpSpPr>
          <a:xfrm flipV="1">
            <a:off x="0" y="5689600"/>
            <a:ext cx="1323302" cy="1168400"/>
            <a:chOff x="-2" y="0"/>
            <a:chExt cx="4556761" cy="4023360"/>
          </a:xfrm>
        </p:grpSpPr>
        <p:sp>
          <p:nvSpPr>
            <p:cNvPr id="12" name="矩形 11"/>
            <p:cNvSpPr/>
            <p:nvPr/>
          </p:nvSpPr>
          <p:spPr>
            <a:xfrm>
              <a:off x="0" y="0"/>
              <a:ext cx="4556759" cy="4023360"/>
            </a:xfrm>
            <a:prstGeom prst="rect">
              <a:avLst/>
            </a:prstGeom>
            <a:blipFill dpi="0" rotWithShape="1">
              <a:blip r:embed="rId2">
                <a:alphaModFix amt="32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-2" y="0"/>
              <a:ext cx="4556761" cy="3307080"/>
            </a:xfrm>
            <a:prstGeom prst="rect">
              <a:avLst/>
            </a:prstGeom>
          </p:spPr>
        </p:pic>
      </p:grpSp>
      <p:sp>
        <p:nvSpPr>
          <p:cNvPr id="15" name="平行四边形 14"/>
          <p:cNvSpPr/>
          <p:nvPr userDrawn="1"/>
        </p:nvSpPr>
        <p:spPr>
          <a:xfrm>
            <a:off x="6498413" y="1073150"/>
            <a:ext cx="1738425" cy="126189"/>
          </a:xfrm>
          <a:prstGeom prst="parallelogram">
            <a:avLst>
              <a:gd name="adj" fmla="val 77108"/>
            </a:avLst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 userDrawn="1"/>
        </p:nvSpPr>
        <p:spPr>
          <a:xfrm flipH="1">
            <a:off x="3885134" y="1370282"/>
            <a:ext cx="1738425" cy="126189"/>
          </a:xfrm>
          <a:prstGeom prst="parallelogram">
            <a:avLst>
              <a:gd name="adj" fmla="val 77108"/>
            </a:avLst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17"/>
          <p:cNvSpPr/>
          <p:nvPr userDrawn="1"/>
        </p:nvSpPr>
        <p:spPr>
          <a:xfrm>
            <a:off x="7536028" y="1305224"/>
            <a:ext cx="1143151" cy="64943"/>
          </a:xfrm>
          <a:prstGeom prst="parallelogram">
            <a:avLst>
              <a:gd name="adj" fmla="val 77108"/>
            </a:avLst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平行四边形 18"/>
          <p:cNvSpPr/>
          <p:nvPr userDrawn="1"/>
        </p:nvSpPr>
        <p:spPr>
          <a:xfrm flipH="1">
            <a:off x="3446095" y="1237422"/>
            <a:ext cx="1143151" cy="64943"/>
          </a:xfrm>
          <a:prstGeom prst="parallelogram">
            <a:avLst>
              <a:gd name="adj" fmla="val 77108"/>
            </a:avLst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7.png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3.pn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3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5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webp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0.webp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5.webp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6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hyperlink" Target="https://github.com/Yclor9828/Yclor_Contrl-Smartly-2026.git" TargetMode="Externa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图片 16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23150" y="3195320"/>
            <a:ext cx="4768850" cy="3662680"/>
          </a:xfrm>
          <a:prstGeom prst="rect">
            <a:avLst/>
          </a:prstGeom>
        </p:spPr>
      </p:pic>
      <p:sp>
        <p:nvSpPr>
          <p:cNvPr id="12" name="直角三角形 11"/>
          <p:cNvSpPr/>
          <p:nvPr/>
        </p:nvSpPr>
        <p:spPr>
          <a:xfrm>
            <a:off x="635" y="5368290"/>
            <a:ext cx="2894965" cy="1489710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" name="直角三角形 1"/>
          <p:cNvSpPr/>
          <p:nvPr/>
        </p:nvSpPr>
        <p:spPr>
          <a:xfrm>
            <a:off x="1270" y="2172335"/>
            <a:ext cx="5155565" cy="468630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0" y="127000"/>
            <a:ext cx="4812665" cy="6731000"/>
          </a:xfrm>
          <a:prstGeom prst="rtTriangle">
            <a:avLst/>
          </a:prstGeom>
          <a:solidFill>
            <a:srgbClr val="BFD4E9">
              <a:alpha val="6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1270" y="805180"/>
            <a:ext cx="4964430" cy="6053455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1" name="直角三角形 20"/>
          <p:cNvSpPr/>
          <p:nvPr/>
        </p:nvSpPr>
        <p:spPr>
          <a:xfrm>
            <a:off x="1270" y="4544695"/>
            <a:ext cx="5150485" cy="2322195"/>
          </a:xfrm>
          <a:prstGeom prst="rtTriangle">
            <a:avLst/>
          </a:prstGeom>
          <a:solidFill>
            <a:srgbClr val="8DB3D8">
              <a:alpha val="5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4" name="直角三角形 23"/>
          <p:cNvSpPr/>
          <p:nvPr/>
        </p:nvSpPr>
        <p:spPr>
          <a:xfrm rot="3240000">
            <a:off x="-1189355" y="3321050"/>
            <a:ext cx="5045075" cy="2299970"/>
          </a:xfrm>
          <a:prstGeom prst="rtTriangle">
            <a:avLst/>
          </a:prstGeom>
          <a:solidFill>
            <a:srgbClr val="8DB3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51485"/>
            <a:ext cx="6205855" cy="40157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291" y="799465"/>
            <a:ext cx="6205855" cy="401574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434083" y="1718703"/>
            <a:ext cx="8002270" cy="1107440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模糊自适应</a:t>
            </a:r>
            <a:r>
              <a:rPr lang="en-US" altLang="zh-CN" sz="7200" b="1" dirty="0">
                <a:solidFill>
                  <a:schemeClr val="accent1"/>
                </a:solidFill>
                <a:uFillTx/>
                <a:latin typeface="Times New Roman" panose="02020603050405020304" charset="0"/>
                <a:cs typeface="+mn-ea"/>
                <a:sym typeface="+mn-lt"/>
              </a:rPr>
              <a:t>PID</a:t>
            </a:r>
            <a:r>
              <a:rPr lang="zh-CN" altLang="en-US" sz="72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控制</a:t>
            </a:r>
            <a:endParaRPr lang="zh-CN" altLang="en-US" sz="7200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714" y="2817495"/>
            <a:ext cx="5033010" cy="5562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921" y="3286760"/>
            <a:ext cx="5522595" cy="7493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4296096" y="3661410"/>
            <a:ext cx="6638290" cy="1123950"/>
            <a:chOff x="6910" y="5766"/>
            <a:chExt cx="10454" cy="1770"/>
          </a:xfrm>
        </p:grpSpPr>
        <p:grpSp>
          <p:nvGrpSpPr>
            <p:cNvPr id="23" name="组合 22"/>
            <p:cNvGrpSpPr/>
            <p:nvPr/>
          </p:nvGrpSpPr>
          <p:grpSpPr>
            <a:xfrm>
              <a:off x="12087" y="5778"/>
              <a:ext cx="1381" cy="581"/>
              <a:chOff x="4382" y="9112"/>
              <a:chExt cx="1381" cy="581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835" y="9112"/>
                <a:ext cx="928" cy="581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指导老师：兰永红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910" y="5766"/>
              <a:ext cx="4062" cy="581"/>
              <a:chOff x="4055910" y="4564696"/>
              <a:chExt cx="2578897" cy="36893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4055910" y="4673451"/>
                <a:ext cx="151425" cy="151425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338872" y="4564696"/>
                <a:ext cx="2295935" cy="36893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课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 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程：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智能控制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910" y="6955"/>
              <a:ext cx="3866" cy="581"/>
              <a:chOff x="4382" y="9112"/>
              <a:chExt cx="3866" cy="581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4835" y="9112"/>
                <a:ext cx="3413" cy="581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汇报人：尹健泷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087" y="6955"/>
              <a:ext cx="5277" cy="581"/>
              <a:chOff x="4382" y="9112"/>
              <a:chExt cx="5277" cy="581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835" y="9112"/>
                <a:ext cx="4824" cy="581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班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 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级：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23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级自动化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班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714" y="1055370"/>
            <a:ext cx="5033010" cy="55626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4361180" y="5331460"/>
            <a:ext cx="6148070" cy="430530"/>
            <a:chOff x="6868" y="8396"/>
            <a:chExt cx="9682" cy="678"/>
          </a:xfrm>
        </p:grpSpPr>
        <p:grpSp>
          <p:nvGrpSpPr>
            <p:cNvPr id="38" name="组合 37"/>
            <p:cNvGrpSpPr/>
            <p:nvPr/>
          </p:nvGrpSpPr>
          <p:grpSpPr>
            <a:xfrm rot="0">
              <a:off x="6868" y="8599"/>
              <a:ext cx="2605" cy="272"/>
              <a:chOff x="4643" y="9390"/>
              <a:chExt cx="2605" cy="272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6972" y="9390"/>
                <a:ext cx="276" cy="272"/>
              </a:xfrm>
              <a:prstGeom prst="ellipse">
                <a:avLst/>
              </a:prstGeom>
              <a:solidFill>
                <a:srgbClr val="4A66AC"/>
              </a:solidFill>
              <a:ln>
                <a:solidFill>
                  <a:srgbClr val="4A66A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0" name="直接连接符 39"/>
              <p:cNvCxnSpPr>
                <a:stCxn id="39" idx="2"/>
              </p:cNvCxnSpPr>
              <p:nvPr/>
            </p:nvCxnSpPr>
            <p:spPr>
              <a:xfrm flipH="1">
                <a:off x="4643" y="9526"/>
                <a:ext cx="2329" cy="10"/>
              </a:xfrm>
              <a:prstGeom prst="line">
                <a:avLst/>
              </a:prstGeom>
              <a:ln>
                <a:gradFill>
                  <a:gsLst>
                    <a:gs pos="100000">
                      <a:srgbClr val="4A66AC"/>
                    </a:gs>
                    <a:gs pos="0">
                      <a:schemeClr val="bg1"/>
                    </a:gs>
                    <a:gs pos="56000">
                      <a:schemeClr val="accent1">
                        <a:lumMod val="45000"/>
                        <a:lumOff val="55000"/>
                      </a:schemeClr>
                    </a:gs>
                    <a:gs pos="79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0800000" scaled="0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 rot="0">
              <a:off x="13946" y="8599"/>
              <a:ext cx="2604" cy="272"/>
              <a:chOff x="11148" y="9390"/>
              <a:chExt cx="2604" cy="272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1148" y="9390"/>
                <a:ext cx="276" cy="272"/>
              </a:xfrm>
              <a:prstGeom prst="ellipse">
                <a:avLst/>
              </a:prstGeom>
              <a:solidFill>
                <a:srgbClr val="4A66AC"/>
              </a:solidFill>
              <a:ln>
                <a:solidFill>
                  <a:srgbClr val="4A66A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 flipH="1">
                <a:off x="11424" y="9526"/>
                <a:ext cx="2329" cy="10"/>
              </a:xfrm>
              <a:prstGeom prst="line">
                <a:avLst/>
              </a:prstGeom>
              <a:ln>
                <a:gradFill>
                  <a:gsLst>
                    <a:gs pos="100000">
                      <a:srgbClr val="4A66AC"/>
                    </a:gs>
                    <a:gs pos="0">
                      <a:schemeClr val="bg1"/>
                    </a:gs>
                    <a:gs pos="56000">
                      <a:schemeClr val="accent1">
                        <a:lumMod val="45000"/>
                        <a:lumOff val="55000"/>
                      </a:schemeClr>
                    </a:gs>
                    <a:gs pos="79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>
              <a:off x="9739" y="8396"/>
              <a:ext cx="3941" cy="67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8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第一组</a:t>
              </a:r>
              <a:r>
                <a:rPr lang="zh-CN" altLang="en-US" sz="28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小组汇报</a:t>
              </a:r>
              <a:endParaRPr lang="zh-CN" altLang="en-US" sz="28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图片 16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23150" y="3195320"/>
            <a:ext cx="4768850" cy="36626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355" y="1091565"/>
            <a:ext cx="3628390" cy="69532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796983" y="497598"/>
            <a:ext cx="6270625" cy="923290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lt"/>
              </a:rPr>
              <a:t>目录</a:t>
            </a:r>
            <a:r>
              <a:rPr lang="en-US" altLang="zh-CN" sz="6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lt"/>
              </a:rPr>
              <a:t> | CONTENTS</a:t>
            </a:r>
            <a:endParaRPr lang="en-US" altLang="zh-CN" sz="6000" b="1" dirty="0">
              <a:solidFill>
                <a:schemeClr val="accent1">
                  <a:lumMod val="100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2" name="直角三角形 11"/>
          <p:cNvSpPr/>
          <p:nvPr/>
        </p:nvSpPr>
        <p:spPr>
          <a:xfrm>
            <a:off x="635" y="5368290"/>
            <a:ext cx="2894965" cy="1489710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grpSp>
        <p:nvGrpSpPr>
          <p:cNvPr id="52" name="组合 51"/>
          <p:cNvGrpSpPr/>
          <p:nvPr>
            <p:custDataLst>
              <p:tags r:id="rId4"/>
            </p:custDataLst>
          </p:nvPr>
        </p:nvGrpSpPr>
        <p:grpSpPr>
          <a:xfrm>
            <a:off x="5581650" y="1880235"/>
            <a:ext cx="4283710" cy="830580"/>
            <a:chOff x="7388" y="2961"/>
            <a:chExt cx="6746" cy="1308"/>
          </a:xfrm>
        </p:grpSpPr>
        <p:sp>
          <p:nvSpPr>
            <p:cNvPr id="60" name="矩形: 单圆角 59"/>
            <p:cNvSpPr/>
            <p:nvPr>
              <p:custDataLst>
                <p:tags r:id="rId5"/>
              </p:custDataLst>
            </p:nvPr>
          </p:nvSpPr>
          <p:spPr>
            <a:xfrm>
              <a:off x="7388" y="3023"/>
              <a:ext cx="6746" cy="1184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6"/>
              </p:custDataLst>
            </p:nvPr>
          </p:nvSpPr>
          <p:spPr>
            <a:xfrm>
              <a:off x="7388" y="3023"/>
              <a:ext cx="2614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C0D5E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"/>
              </p:custDataLst>
            </p:nvPr>
          </p:nvSpPr>
          <p:spPr>
            <a:xfrm>
              <a:off x="7388" y="3023"/>
              <a:ext cx="2176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8DB3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8"/>
              </p:custDataLst>
            </p:nvPr>
          </p:nvSpPr>
          <p:spPr>
            <a:xfrm>
              <a:off x="7806" y="2961"/>
              <a:ext cx="1286" cy="1308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5400" b="1" dirty="0">
                  <a:solidFill>
                    <a:schemeClr val="bg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01</a:t>
              </a:r>
              <a:endParaRPr lang="en-US" altLang="zh-CN" sz="5400" b="1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9"/>
              </p:custDataLst>
            </p:nvPr>
          </p:nvSpPr>
          <p:spPr>
            <a:xfrm>
              <a:off x="10100" y="3131"/>
              <a:ext cx="3901" cy="9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概</a:t>
              </a:r>
              <a:r>
                <a:rPr lang="en-US" altLang="zh-CN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     </a:t>
              </a:r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述</a:t>
              </a:r>
              <a:endParaRPr lang="zh-CN" altLang="en-US" sz="4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0"/>
            </p:custDataLst>
          </p:nvPr>
        </p:nvGrpSpPr>
        <p:grpSpPr>
          <a:xfrm>
            <a:off x="5581650" y="4246245"/>
            <a:ext cx="4283710" cy="830580"/>
            <a:chOff x="7388" y="6687"/>
            <a:chExt cx="6746" cy="1308"/>
          </a:xfrm>
        </p:grpSpPr>
        <p:sp>
          <p:nvSpPr>
            <p:cNvPr id="142" name="矩形: 单圆角 59"/>
            <p:cNvSpPr/>
            <p:nvPr>
              <p:custDataLst>
                <p:tags r:id="rId11"/>
              </p:custDataLst>
            </p:nvPr>
          </p:nvSpPr>
          <p:spPr>
            <a:xfrm>
              <a:off x="7388" y="6749"/>
              <a:ext cx="6746" cy="1184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43" name="任意多边形: 形状 60"/>
            <p:cNvSpPr/>
            <p:nvPr>
              <p:custDataLst>
                <p:tags r:id="rId12"/>
              </p:custDataLst>
            </p:nvPr>
          </p:nvSpPr>
          <p:spPr>
            <a:xfrm>
              <a:off x="7388" y="6749"/>
              <a:ext cx="2614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C0D5E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44" name="任意多边形: 形状 61"/>
            <p:cNvSpPr/>
            <p:nvPr>
              <p:custDataLst>
                <p:tags r:id="rId13"/>
              </p:custDataLst>
            </p:nvPr>
          </p:nvSpPr>
          <p:spPr>
            <a:xfrm>
              <a:off x="7388" y="6749"/>
              <a:ext cx="2176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8DB3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14"/>
              </p:custDataLst>
            </p:nvPr>
          </p:nvSpPr>
          <p:spPr>
            <a:xfrm>
              <a:off x="7806" y="6687"/>
              <a:ext cx="1286" cy="1308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5400" b="1" dirty="0">
                  <a:solidFill>
                    <a:schemeClr val="bg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03</a:t>
              </a:r>
              <a:endParaRPr lang="en-US" altLang="zh-CN" sz="5400" b="1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15"/>
              </p:custDataLst>
            </p:nvPr>
          </p:nvSpPr>
          <p:spPr>
            <a:xfrm>
              <a:off x="10100" y="6857"/>
              <a:ext cx="3823" cy="9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应用</a:t>
              </a:r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实验</a:t>
              </a:r>
              <a:endParaRPr lang="zh-CN" altLang="en-US" sz="4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6"/>
            </p:custDataLst>
          </p:nvPr>
        </p:nvGrpSpPr>
        <p:grpSpPr>
          <a:xfrm>
            <a:off x="5581650" y="3063240"/>
            <a:ext cx="4283710" cy="830580"/>
            <a:chOff x="7388" y="4824"/>
            <a:chExt cx="6746" cy="1308"/>
          </a:xfrm>
        </p:grpSpPr>
        <p:sp>
          <p:nvSpPr>
            <p:cNvPr id="4" name="矩形: 单圆角 59"/>
            <p:cNvSpPr/>
            <p:nvPr>
              <p:custDataLst>
                <p:tags r:id="rId17"/>
              </p:custDataLst>
            </p:nvPr>
          </p:nvSpPr>
          <p:spPr>
            <a:xfrm>
              <a:off x="7388" y="4886"/>
              <a:ext cx="6746" cy="1184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5" name="任意多边形: 形状 60"/>
            <p:cNvSpPr/>
            <p:nvPr>
              <p:custDataLst>
                <p:tags r:id="rId18"/>
              </p:custDataLst>
            </p:nvPr>
          </p:nvSpPr>
          <p:spPr>
            <a:xfrm>
              <a:off x="7388" y="4886"/>
              <a:ext cx="2614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C0D5E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" name="任意多边形: 形状 61"/>
            <p:cNvSpPr/>
            <p:nvPr>
              <p:custDataLst>
                <p:tags r:id="rId19"/>
              </p:custDataLst>
            </p:nvPr>
          </p:nvSpPr>
          <p:spPr>
            <a:xfrm>
              <a:off x="7388" y="4886"/>
              <a:ext cx="2176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8DB3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20"/>
              </p:custDataLst>
            </p:nvPr>
          </p:nvSpPr>
          <p:spPr>
            <a:xfrm>
              <a:off x="7806" y="4824"/>
              <a:ext cx="1286" cy="1308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5400" b="1" dirty="0">
                  <a:solidFill>
                    <a:schemeClr val="bg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02</a:t>
              </a:r>
              <a:endParaRPr lang="en-US" altLang="zh-CN" sz="5400" b="1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21"/>
              </p:custDataLst>
            </p:nvPr>
          </p:nvSpPr>
          <p:spPr>
            <a:xfrm>
              <a:off x="10100" y="4994"/>
              <a:ext cx="3823" cy="9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  <a:sym typeface="+mn-ea"/>
                </a:rPr>
                <a:t>架构原理</a:t>
              </a:r>
              <a:endParaRPr lang="zh-CN" altLang="en-US" sz="4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22"/>
            </p:custDataLst>
          </p:nvPr>
        </p:nvGrpSpPr>
        <p:grpSpPr>
          <a:xfrm>
            <a:off x="5581650" y="5428615"/>
            <a:ext cx="4283710" cy="830580"/>
            <a:chOff x="7388" y="8549"/>
            <a:chExt cx="6746" cy="1308"/>
          </a:xfrm>
        </p:grpSpPr>
        <p:sp>
          <p:nvSpPr>
            <p:cNvPr id="11" name="矩形: 单圆角 59"/>
            <p:cNvSpPr/>
            <p:nvPr>
              <p:custDataLst>
                <p:tags r:id="rId23"/>
              </p:custDataLst>
            </p:nvPr>
          </p:nvSpPr>
          <p:spPr>
            <a:xfrm>
              <a:off x="7388" y="8611"/>
              <a:ext cx="6746" cy="1184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4" name="任意多边形: 形状 60"/>
            <p:cNvSpPr/>
            <p:nvPr>
              <p:custDataLst>
                <p:tags r:id="rId24"/>
              </p:custDataLst>
            </p:nvPr>
          </p:nvSpPr>
          <p:spPr>
            <a:xfrm>
              <a:off x="7388" y="8611"/>
              <a:ext cx="2614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C0D5E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6" name="任意多边形: 形状 61"/>
            <p:cNvSpPr/>
            <p:nvPr>
              <p:custDataLst>
                <p:tags r:id="rId25"/>
              </p:custDataLst>
            </p:nvPr>
          </p:nvSpPr>
          <p:spPr>
            <a:xfrm>
              <a:off x="7388" y="8611"/>
              <a:ext cx="2176" cy="1184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8DB3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72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26"/>
              </p:custDataLst>
            </p:nvPr>
          </p:nvSpPr>
          <p:spPr>
            <a:xfrm>
              <a:off x="7806" y="8549"/>
              <a:ext cx="1286" cy="1308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5400" b="1" dirty="0">
                  <a:solidFill>
                    <a:schemeClr val="bg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04</a:t>
              </a:r>
              <a:endParaRPr lang="en-US" altLang="zh-CN" sz="5400" b="1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27"/>
              </p:custDataLst>
            </p:nvPr>
          </p:nvSpPr>
          <p:spPr>
            <a:xfrm>
              <a:off x="10100" y="8719"/>
              <a:ext cx="3823" cy="9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总</a:t>
              </a:r>
              <a:r>
                <a:rPr lang="en-US" altLang="zh-CN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  <a:sym typeface="+mn-ea"/>
                </a:rPr>
                <a:t>        </a:t>
              </a:r>
              <a:r>
                <a:rPr lang="zh-CN" altLang="en-US" sz="4000" b="1" dirty="0">
                  <a:solidFill>
                    <a:schemeClr val="accent1">
                      <a:lumMod val="100000"/>
                    </a:schemeClr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结</a:t>
              </a:r>
              <a:endParaRPr lang="zh-CN" altLang="en-US" sz="4000" b="1" dirty="0">
                <a:solidFill>
                  <a:schemeClr val="accent1">
                    <a:lumMod val="10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直角三角形 1"/>
          <p:cNvSpPr/>
          <p:nvPr/>
        </p:nvSpPr>
        <p:spPr>
          <a:xfrm>
            <a:off x="1270" y="2172335"/>
            <a:ext cx="5155565" cy="468630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0" y="127000"/>
            <a:ext cx="4812665" cy="6731000"/>
          </a:xfrm>
          <a:prstGeom prst="rtTriangle">
            <a:avLst/>
          </a:prstGeom>
          <a:solidFill>
            <a:srgbClr val="BFD4E9">
              <a:alpha val="6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1270" y="805180"/>
            <a:ext cx="4964430" cy="6053455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1" name="直角三角形 20"/>
          <p:cNvSpPr/>
          <p:nvPr/>
        </p:nvSpPr>
        <p:spPr>
          <a:xfrm>
            <a:off x="1270" y="4544695"/>
            <a:ext cx="5150485" cy="2322195"/>
          </a:xfrm>
          <a:prstGeom prst="rtTriangle">
            <a:avLst/>
          </a:prstGeom>
          <a:solidFill>
            <a:srgbClr val="8DB3D8">
              <a:alpha val="5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4" name="直角三角形 23"/>
          <p:cNvSpPr/>
          <p:nvPr/>
        </p:nvSpPr>
        <p:spPr>
          <a:xfrm rot="3240000">
            <a:off x="-1189355" y="3321050"/>
            <a:ext cx="5045075" cy="2299970"/>
          </a:xfrm>
          <a:prstGeom prst="rtTriangle">
            <a:avLst/>
          </a:prstGeom>
          <a:solidFill>
            <a:srgbClr val="8DB3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40100" y="1468120"/>
            <a:ext cx="5431790" cy="2123440"/>
            <a:chOff x="3897" y="2312"/>
            <a:chExt cx="8554" cy="3344"/>
          </a:xfrm>
        </p:grpSpPr>
        <p:sp>
          <p:nvSpPr>
            <p:cNvPr id="15" name="文本框 14"/>
            <p:cNvSpPr txBox="1"/>
            <p:nvPr/>
          </p:nvSpPr>
          <p:spPr>
            <a:xfrm>
              <a:off x="7491" y="2900"/>
              <a:ext cx="4858" cy="21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概述</a:t>
              </a:r>
              <a:endParaRPr kumimoji="1" lang="en-US" altLang="zh-CN" sz="8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897" y="2312"/>
              <a:ext cx="2760" cy="33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zh-CN" sz="138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01</a:t>
              </a:r>
              <a:endParaRPr kumimoji="1" lang="zh-CN" altLang="en-US" sz="138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cxnSp>
          <p:nvCxnSpPr>
            <p:cNvPr id="18" name="直线连接符 5"/>
            <p:cNvCxnSpPr/>
            <p:nvPr/>
          </p:nvCxnSpPr>
          <p:spPr>
            <a:xfrm>
              <a:off x="7491" y="5032"/>
              <a:ext cx="4961" cy="5"/>
            </a:xfrm>
            <a:prstGeom prst="line">
              <a:avLst/>
            </a:prstGeom>
            <a:ln w="53975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686909" y="4893560"/>
            <a:ext cx="7271201" cy="553706"/>
            <a:chOff x="4382" y="9112"/>
            <a:chExt cx="11451" cy="872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835" y="9112"/>
              <a:ext cx="10998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模糊控制与</a:t>
              </a:r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自适应控制</a:t>
              </a:r>
              <a:endParaRPr lang="zh-CN" altLang="en-US" sz="36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3686909" y="3993153"/>
            <a:ext cx="6775279" cy="553706"/>
            <a:chOff x="4382" y="9112"/>
            <a:chExt cx="10670" cy="872"/>
          </a:xfrm>
        </p:grpSpPr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4835" y="9112"/>
              <a:ext cx="10217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传统</a:t>
              </a:r>
              <a:r>
                <a:rPr lang="en-US" altLang="zh-CN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PID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控制局限性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3686909" y="5793967"/>
            <a:ext cx="7805223" cy="553706"/>
            <a:chOff x="4382" y="9112"/>
            <a:chExt cx="12292" cy="872"/>
          </a:xfrm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4835" y="9112"/>
              <a:ext cx="11839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模糊自适应</a:t>
              </a:r>
              <a:r>
                <a:rPr lang="en-US" altLang="zh-CN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PID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073594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1.</a:t>
            </a:r>
            <a:r>
              <a:rPr kumimoji="1" 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传统</a:t>
            </a:r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PID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及其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痛点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18594" b="6908"/>
          <a:stretch>
            <a:fillRect/>
          </a:stretch>
        </p:blipFill>
        <p:spPr>
          <a:xfrm>
            <a:off x="2296795" y="2068830"/>
            <a:ext cx="7591425" cy="11779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19405" y="3194685"/>
            <a:ext cx="1155446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其中：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负责基础驱动，响应当前误差、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消除系统稳态余差、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预测未来趋势，施加阻尼制动。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痛点：</a:t>
            </a:r>
            <a:endParaRPr lang="zh-CN" altLang="en-US" sz="28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为恒定常数，整定基于“单一线性稳态工作点”场景；而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面对非线性、纯滞后时变、大负荷扰动等复杂多变场景时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，固定增益无法兼顾“快速启动”与“稳定防超调”，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极易引发积分饱和与剧烈震荡。</a:t>
            </a:r>
            <a:endParaRPr lang="zh-CN" altLang="en-US" sz="28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8135" y="1134745"/>
            <a:ext cx="1155573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/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传统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控制由于其算法实现简单、调制方便等原因，得到了十分广泛的使用，原理如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下：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073594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1.</a:t>
            </a:r>
            <a:r>
              <a:rPr kumimoji="1" 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模糊控制与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自适应控制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9875" y="1206500"/>
          <a:ext cx="11769090" cy="5334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2120"/>
                <a:gridCol w="4538980"/>
                <a:gridCol w="5507990"/>
              </a:tblGrid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控制方法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模糊控制</a:t>
                      </a:r>
                      <a:endParaRPr lang="zh-CN" altLang="en-US" sz="2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自适应控制</a:t>
                      </a:r>
                      <a:endParaRPr lang="zh-CN" altLang="en-US" sz="2800"/>
                    </a:p>
                  </a:txBody>
                  <a:tcPr anchor="ctr" anchorCtr="0"/>
                </a:tc>
              </a:tr>
              <a:tr h="157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定义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400"/>
                        <a:t>基于模糊集合论、不依赖被控对象精确数学模型</a:t>
                      </a:r>
                      <a:r>
                        <a:rPr lang="zh-CN" altLang="en-US" sz="2400"/>
                        <a:t>的智能控制方法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在运行过程中持续监测系统状态与环境变化，并在线自动调整</a:t>
                      </a:r>
                      <a:r>
                        <a:rPr lang="zh-CN" altLang="en-US" sz="2400"/>
                        <a:t>控制器参数或结构的控制策略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1574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原理</a:t>
                      </a:r>
                      <a:r>
                        <a:rPr lang="zh-CN" altLang="en-US" sz="2400"/>
                        <a:t>机制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400"/>
                        <a:t>模仿人类专家的直觉思维，通过经验规则库</a:t>
                      </a:r>
                      <a:r>
                        <a:rPr lang="zh-CN" altLang="en-US" sz="2400"/>
                        <a:t>进行逻辑推理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在常规反馈控制回路之上增加一个“参数自整定外环</a:t>
                      </a:r>
                      <a:r>
                        <a:rPr lang="zh-CN" altLang="en-US" sz="2400"/>
                        <a:t>”，当对象特性漂移或受扰时实时修正控制律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157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优势</a:t>
                      </a:r>
                      <a:r>
                        <a:rPr lang="zh-CN" altLang="en-US" sz="2400"/>
                        <a:t>场景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400"/>
                        <a:t>擅长应对强非线性、机理复杂</a:t>
                      </a:r>
                      <a:r>
                        <a:rPr lang="zh-CN" altLang="en-US" sz="2400"/>
                        <a:t>、难以建立精准微分方程却有丰富人工操作经验的系统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打破传统控制“参数一经整定、终身固定不变”的局限，使系统在不定工况</a:t>
                      </a:r>
                      <a:r>
                        <a:rPr lang="zh-CN" altLang="en-US" sz="2400"/>
                        <a:t>下始终维持最优品质。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073594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1.</a:t>
            </a:r>
            <a:r>
              <a:rPr kumimoji="1" 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模糊自适应</a:t>
            </a:r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PID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控制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9405" y="3048000"/>
            <a:ext cx="1155446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其中：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), 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为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时刻书记输入给控制器的实时动态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增益；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为预先正定初始基准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参数；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 Δ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为模糊推理机根据实时误差状态在线推理输出的归一化论域修正量；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up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ui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：输出比例缩放因子，决定自适应调节的步长与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力度。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80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大误差时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：增大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i="1" baseline="-25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提速，小学若防止饱和积聚，适当调节预防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冲程；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800"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小误差时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：调大彻底消除静差，调大实时平稳减速制动。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3505" y="988060"/>
            <a:ext cx="1198435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/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定义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: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将人类熟练操作员在不同运行阶段调节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的启发式经验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(Heuristics)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转化为模糊规则库，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根据误差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和误差变化率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ec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的实时大小，在线动态补偿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参数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，实现方式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如下：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" y="2393950"/>
            <a:ext cx="12192000" cy="549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073594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1.</a:t>
            </a:r>
            <a:r>
              <a:rPr kumimoji="1" 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4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模糊自适应</a:t>
            </a:r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PID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控制与传统</a:t>
            </a:r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PID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控制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对比表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/>
              <p:cNvGraphicFramePr/>
              <p:nvPr>
                <p:custDataLst>
                  <p:tags r:id="rId2"/>
                </p:custDataLst>
              </p:nvPr>
            </p:nvGraphicFramePr>
            <p:xfrm>
              <a:off x="269875" y="1206500"/>
              <a:ext cx="11769090" cy="502856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65580"/>
                    <a:gridCol w="4795520"/>
                    <a:gridCol w="5507990"/>
                  </a:tblGrid>
                  <a:tr h="6108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控制方法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800"/>
                            <a:t>模糊控制</a:t>
                          </a:r>
                          <a:endParaRPr lang="zh-CN" altLang="en-US" sz="28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800"/>
                            <a:t>自适应控制</a:t>
                          </a:r>
                          <a:endParaRPr lang="zh-CN" altLang="en-US" sz="2800"/>
                        </a:p>
                      </a:txBody>
                      <a:tcPr anchor="ctr" anchorCtr="0"/>
                    </a:tc>
                  </a:tr>
                  <a:tr h="9042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先验模型</a:t>
                          </a:r>
                          <a:r>
                            <a:rPr lang="zh-CN" altLang="en-US" sz="2400"/>
                            <a:t>依赖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极高</a:t>
                          </a:r>
                          <a:r>
                            <a:rPr lang="zh-CN" altLang="en-US" sz="2400"/>
                            <a:t>（严重依赖单一工作点线性化模型的精度）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低</a:t>
                          </a:r>
                          <a:r>
                            <a:rPr lang="zh-CN" altLang="en-US" sz="2400"/>
                            <a:t>（融合基础数学模型与人类专家启发式规则）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323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时变/突变鲁棒性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差</a:t>
                          </a:r>
                          <a:r>
                            <a:rPr lang="zh-CN" altLang="en-US" sz="2400"/>
                            <a:t>（对象增益或惯量突变时极易大幅超调或震荡）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极强</a:t>
                          </a:r>
                          <a:r>
                            <a:rPr lang="zh-CN" altLang="en-US" sz="2400"/>
                            <a:t>（感知异常斜率后主动降增益，具备在线自救能力）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07505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大滞后与防超调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难以兼顾快速升温与零超调，反向阶跃易产生二次过冲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动态削弱大误差期积分、增强逼近段阻尼，有效实现零超调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1150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计算开销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极低</a:t>
                          </a:r>
                          <a:r>
                            <a:rPr lang="zh-CN" altLang="en-US" sz="2400"/>
                            <a:t>（仅需数次加减乘除）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中等偏低（需执行模糊化、</a:t>
                          </a:r>
                          <a:r>
                            <a:rPr lang="en-US" sz="2400"/>
                            <a:t>7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2400"/>
                            <a:t>7</a:t>
                          </a:r>
                          <a:r>
                            <a:rPr lang="en-US" altLang="zh-CN" sz="2400"/>
                            <a:t> </a:t>
                          </a:r>
                          <a:r>
                            <a:rPr lang="zh-CN" altLang="en-US" sz="2400"/>
                            <a:t>规则矩阵运算及加权重心）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/>
              <p:cNvGraphicFramePr/>
              <p:nvPr>
                <p:custDataLst>
                  <p:tags r:id="rId3"/>
                </p:custDataLst>
              </p:nvPr>
            </p:nvGraphicFramePr>
            <p:xfrm>
              <a:off x="269875" y="1206500"/>
              <a:ext cx="11769090" cy="502856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65580"/>
                    <a:gridCol w="4795520"/>
                    <a:gridCol w="5507990"/>
                  </a:tblGrid>
                  <a:tr h="6108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控制方法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800"/>
                            <a:t>模糊控制</a:t>
                          </a:r>
                          <a:endParaRPr lang="zh-CN" altLang="en-US" sz="28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800"/>
                            <a:t>自适应控制</a:t>
                          </a:r>
                          <a:endParaRPr lang="zh-CN" altLang="en-US" sz="2800"/>
                        </a:p>
                      </a:txBody>
                      <a:tcPr anchor="ctr" anchorCtr="0"/>
                    </a:tc>
                  </a:tr>
                  <a:tr h="9042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先验模型</a:t>
                          </a:r>
                          <a:r>
                            <a:rPr lang="zh-CN" altLang="en-US" sz="2400"/>
                            <a:t>依赖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极高</a:t>
                          </a:r>
                          <a:r>
                            <a:rPr lang="zh-CN" altLang="en-US" sz="2400"/>
                            <a:t>（严重依赖单一工作点线性化模型的精度）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低</a:t>
                          </a:r>
                          <a:r>
                            <a:rPr lang="zh-CN" altLang="en-US" sz="2400"/>
                            <a:t>（融合基础数学模型与人类专家启发式规则）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323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时变/突变鲁棒性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差</a:t>
                          </a:r>
                          <a:r>
                            <a:rPr lang="zh-CN" altLang="en-US" sz="2400"/>
                            <a:t>（对象增益或惯量突变时极易大幅超调或震荡）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极强</a:t>
                          </a:r>
                          <a:r>
                            <a:rPr lang="zh-CN" altLang="en-US" sz="2400"/>
                            <a:t>（感知异常斜率后主动降增益，具备在线自救能力）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07505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大滞后与防超调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难以兼顾快速升温与零超调，反向阶跃易产生二次过冲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动态削弱大误差期积分、增强逼近段阻尼，有效实现零超调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</a:tr>
                  <a:tr h="11150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2400"/>
                            <a:t>计算开销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zh-CN" altLang="en-US" sz="2400"/>
                            <a:t>极低</a:t>
                          </a:r>
                          <a:r>
                            <a:rPr lang="zh-CN" altLang="en-US" sz="2400"/>
                            <a:t>（仅需数次加减乘除）</a:t>
                          </a:r>
                          <a:endParaRPr lang="zh-CN" altLang="en-US" sz="24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474516" y="1467854"/>
            <a:ext cx="7242839" cy="2123440"/>
            <a:chOff x="3070631" y="2544776"/>
            <a:chExt cx="7242839" cy="2123440"/>
          </a:xfrm>
        </p:grpSpPr>
        <p:sp>
          <p:nvSpPr>
            <p:cNvPr id="15" name="文本框 14"/>
            <p:cNvSpPr txBox="1"/>
            <p:nvPr/>
          </p:nvSpPr>
          <p:spPr>
            <a:xfrm>
              <a:off x="5352821" y="2918156"/>
              <a:ext cx="4853305" cy="1353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架构</a:t>
              </a:r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原理</a:t>
              </a:r>
              <a:endParaRPr kumimoji="1" lang="zh-CN" altLang="en-US" sz="8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070631" y="2544776"/>
              <a:ext cx="1752600" cy="21234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zh-CN" sz="138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02</a:t>
              </a:r>
              <a:endParaRPr kumimoji="1" lang="zh-CN" altLang="en-US" sz="138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cxnSp>
          <p:nvCxnSpPr>
            <p:cNvPr id="18" name="直线连接符 5"/>
            <p:cNvCxnSpPr/>
            <p:nvPr/>
          </p:nvCxnSpPr>
          <p:spPr>
            <a:xfrm>
              <a:off x="5352850" y="4272480"/>
              <a:ext cx="4960620" cy="16510"/>
            </a:xfrm>
            <a:prstGeom prst="line">
              <a:avLst/>
            </a:prstGeom>
            <a:ln w="53975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860139" y="4405889"/>
            <a:ext cx="7271201" cy="553085"/>
            <a:chOff x="4382" y="9112"/>
            <a:chExt cx="11451" cy="872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835" y="9112"/>
              <a:ext cx="10998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模糊化接口与隶属度函数</a:t>
              </a:r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设计</a:t>
              </a:r>
              <a:endParaRPr lang="zh-CN" altLang="en-US" sz="36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2860139" y="3606438"/>
            <a:ext cx="6775279" cy="553706"/>
            <a:chOff x="4382" y="9112"/>
            <a:chExt cx="10670" cy="872"/>
          </a:xfrm>
        </p:grpSpPr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4835" y="9112"/>
              <a:ext cx="10217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架构核心层次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解析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2860139" y="5204719"/>
            <a:ext cx="7805223" cy="553085"/>
            <a:chOff x="4382" y="9112"/>
            <a:chExt cx="12292" cy="872"/>
          </a:xfrm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4835" y="9112"/>
              <a:ext cx="11839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专家模糊规则库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2860139" y="6003549"/>
            <a:ext cx="7805223" cy="553719"/>
            <a:chOff x="4382" y="9112"/>
            <a:chExt cx="12292" cy="873"/>
          </a:xfrm>
        </p:grpSpPr>
        <p:sp>
          <p:nvSpPr>
            <p:cNvPr id="12" name="矩形 11"/>
            <p:cNvSpPr/>
            <p:nvPr>
              <p:custDataLst>
                <p:tags r:id="rId11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4835" y="9112"/>
              <a:ext cx="11839" cy="873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模糊自适应</a:t>
              </a:r>
              <a:r>
                <a:rPr lang="en-US" altLang="zh-CN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PID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实现流程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073594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2.</a:t>
            </a:r>
            <a:r>
              <a:rPr kumimoji="1" 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模糊自适应</a:t>
            </a:r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PID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控制器总体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架构图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995" t="10610" r="2443" b="4458"/>
          <a:stretch>
            <a:fillRect/>
          </a:stretch>
        </p:blipFill>
        <p:spPr>
          <a:xfrm>
            <a:off x="164465" y="1292860"/>
            <a:ext cx="11772900" cy="544385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64855" y="986155"/>
            <a:ext cx="382714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/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上层：模糊自适应在线调参外环，主要包含了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四个部分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下层：带条件抗积分饱和的动态 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 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控制内环，主要包含了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三个部分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详见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下图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405" y="4625975"/>
            <a:ext cx="1283335" cy="885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40240" y="4646930"/>
            <a:ext cx="14757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/>
            <a:r>
              <a:rPr lang="zh-CN" altLang="en-US" sz="2400" b="1">
                <a:solidFill>
                  <a:srgbClr val="B4530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被控工业物理对象</a:t>
            </a:r>
            <a:endParaRPr lang="zh-CN" altLang="en-US" sz="2400" b="1">
              <a:solidFill>
                <a:srgbClr val="B45309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8440" y="203200"/>
            <a:ext cx="1165098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2.2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模糊化接口与隶属度函数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设计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17541"/>
          <a:stretch>
            <a:fillRect/>
          </a:stretch>
        </p:blipFill>
        <p:spPr>
          <a:xfrm>
            <a:off x="2540" y="904240"/>
            <a:ext cx="12192000" cy="4092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61290" y="4805680"/>
                <a:ext cx="11845290" cy="20612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 b="1">
                    <a:latin typeface="Times New Roman" panose="02020603050405020304" charset="0"/>
                    <a:cs typeface="Times New Roman" panose="02020603050405020304" charset="0"/>
                  </a:rPr>
                  <a:t>1. 标准论域与语言变量：</a:t>
                </a:r>
                <a:endParaRPr lang="zh-CN" altLang="en-US" sz="16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indent="457200"/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输入 </a:t>
                </a:r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e</a:t>
                </a:r>
                <a:r>
                  <a:rPr lang="zh-CN" altLang="en-US" sz="1600" i="1">
                    <a:latin typeface="Times New Roman" panose="02020603050405020304" charset="0"/>
                    <a:cs typeface="Times New Roman" panose="02020603050405020304" charset="0"/>
                  </a:rPr>
                  <a:t>、</a:t>
                </a:r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ec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与输出 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ΔK 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统一划分在 [-3, +3] 上，定义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7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个语言变量，对应论域中心值为 {-3, -2, -1, 0, +1, +2, +3}；</a:t>
                </a:r>
                <a:endParaRPr lang="zh-CN" altLang="en-US" sz="16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zh-CN" altLang="en-US" sz="1600" b="1">
                    <a:latin typeface="Times New Roman" panose="02020603050405020304" charset="0"/>
                    <a:cs typeface="Times New Roman" panose="02020603050405020304" charset="0"/>
                  </a:rPr>
                  <a:t>2. 混合隶属度函数选型：</a:t>
                </a:r>
                <a:endParaRPr lang="zh-CN" altLang="en-US" sz="16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indent="457200"/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中间 5 个子集（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NM, NS, ZO, PS, PM）：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采用灵敏度高、计算简洁的对称三角形隶属度函数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，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确保小误差段调节细腻平滑；两端极值子集（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NB, PB）：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采用饱和平顶梯形隶属度函数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，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并在论域外延保持恒等于 1.0 的饱和特性；</a:t>
                </a:r>
                <a:endParaRPr lang="zh-CN" altLang="en-US" sz="16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zh-CN" altLang="en-US" sz="1600" b="1">
                    <a:latin typeface="Times New Roman" panose="02020603050405020304" charset="0"/>
                    <a:cs typeface="Times New Roman" panose="02020603050405020304" charset="0"/>
                  </a:rPr>
                  <a:t>3. 针对极端工况的斜坡重叠优化：</a:t>
                </a:r>
                <a:endParaRPr lang="zh-CN" altLang="en-US" sz="16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    图中可见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NB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与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NM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在 [-2, -1]、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PB 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与 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PM 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在 [+1, +2] 斜坡重合，这是专门设计的“极端规则前置介入机制”：当归一化误差刚越过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±</m:t>
                    </m:r>
                  </m:oMath>
                </a14:m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1 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时，极值规则（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NB/PB）</a:t>
                </a:r>
                <a:r>
                  <a:rPr lang="zh-CN" altLang="en-US" sz="1600">
                    <a:latin typeface="Times New Roman" panose="02020603050405020304" charset="0"/>
                    <a:cs typeface="Times New Roman" panose="02020603050405020304" charset="0"/>
                  </a:rPr>
                  <a:t>便提前激活发力，在面对大阶跃或突发强扰动时提供更果断的回拉响应。</a:t>
                </a:r>
                <a:endParaRPr lang="zh-CN" altLang="en-US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0" y="4805680"/>
                <a:ext cx="11845290" cy="20612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8440" y="203200"/>
            <a:ext cx="1165098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2.3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专家模糊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规则库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1125" y="1017905"/>
                <a:ext cx="11973560" cy="69977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>
                    <a:solidFill>
                      <a:schemeClr val="tx1"/>
                    </a:solidFill>
                    <a:uFillTx/>
                    <a:latin typeface="Times New Roman" panose="02020603050405020304" charset="0"/>
                  </a:rPr>
                  <a:t>三张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7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7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uFillTx/>
                    <a:latin typeface="Times New Roman" panose="02020603050405020304" charset="0"/>
                  </a:rPr>
                  <a:t>核心控制规则矩阵表（表中整数代表输出模糊子集中心：</a:t>
                </a:r>
                <a:r>
                  <a:rPr lang="en-US" altLang="zh-CN">
                    <a:solidFill>
                      <a:schemeClr val="tx1"/>
                    </a:solidFill>
                    <a:uFillTx/>
                    <a:latin typeface="Times New Roman" panose="02020603050405020304" charset="0"/>
                  </a:rPr>
                  <a:t>-3=NB,-2=NM,-1=NS,0=ZO,+1=PS,+2=PM,+3=PB）</a:t>
                </a:r>
                <a:endParaRPr lang="en-US" altLang="zh-CN">
                  <a:solidFill>
                    <a:schemeClr val="tx1"/>
                  </a:solidFill>
                  <a:uFillTx/>
                  <a:latin typeface="Times New Roman" panose="020206030504050203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5" y="1017905"/>
                <a:ext cx="11973560" cy="6997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" y="1616075"/>
            <a:ext cx="9759950" cy="50050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270" y="1670685"/>
            <a:ext cx="9853295" cy="4940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1789" t="2071" r="1405"/>
          <a:stretch>
            <a:fillRect/>
          </a:stretch>
        </p:blipFill>
        <p:spPr>
          <a:xfrm>
            <a:off x="2323465" y="1670685"/>
            <a:ext cx="9718675" cy="494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610" y="840105"/>
            <a:ext cx="12034520" cy="297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数学推理机制说明：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 </a:t>
            </a: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前件合成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：第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0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i,j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条规则的激活强度为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                                  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（对应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左图中高亮的6个激活单元格）；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 </a:t>
            </a: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加权中心清晰化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：对应右图中的三个加权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重心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</a:pP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</a:pP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457200" fontAlgn="auto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. </a:t>
            </a: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连续非线性映射曲面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：在整个[-3, +3]^2论域上，模糊推理机构成了三张平滑无跳变的非线性增益曲面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确保参数调整过程无高频抖振。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8440" y="203200"/>
            <a:ext cx="1165098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2.4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模糊推理全链条解剖与三维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决策曲面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333" t="17849"/>
          <a:stretch>
            <a:fillRect/>
          </a:stretch>
        </p:blipFill>
        <p:spPr>
          <a:xfrm>
            <a:off x="5095875" y="1315720"/>
            <a:ext cx="2663825" cy="436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292" t="12715"/>
          <a:stretch>
            <a:fillRect/>
          </a:stretch>
        </p:blipFill>
        <p:spPr>
          <a:xfrm>
            <a:off x="1600200" y="2132965"/>
            <a:ext cx="8887460" cy="866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14058" r="69375" b="964"/>
          <a:stretch>
            <a:fillRect/>
          </a:stretch>
        </p:blipFill>
        <p:spPr>
          <a:xfrm>
            <a:off x="2576195" y="3757295"/>
            <a:ext cx="3131185" cy="3003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69311" t="15028" r="64" b="-6"/>
          <a:stretch>
            <a:fillRect/>
          </a:stretch>
        </p:blipFill>
        <p:spPr>
          <a:xfrm>
            <a:off x="6674485" y="3797300"/>
            <a:ext cx="3131185" cy="300355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4610" y="3725545"/>
            <a:ext cx="12041505" cy="3198495"/>
            <a:chOff x="86" y="5867"/>
            <a:chExt cx="18963" cy="50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rcRect t="17432" r="1292" b="3092"/>
            <a:stretch>
              <a:fillRect/>
            </a:stretch>
          </p:blipFill>
          <p:spPr>
            <a:xfrm>
              <a:off x="86" y="6022"/>
              <a:ext cx="18952" cy="488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rcRect t="7211" r="1292" b="87532"/>
            <a:stretch>
              <a:fillRect/>
            </a:stretch>
          </p:blipFill>
          <p:spPr>
            <a:xfrm>
              <a:off x="97" y="5867"/>
              <a:ext cx="18952" cy="32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536746" y="1455789"/>
            <a:ext cx="7473979" cy="2123440"/>
            <a:chOff x="3070631" y="2544776"/>
            <a:chExt cx="7473979" cy="2123440"/>
          </a:xfrm>
        </p:grpSpPr>
        <p:sp>
          <p:nvSpPr>
            <p:cNvPr id="15" name="文本框 14"/>
            <p:cNvSpPr txBox="1"/>
            <p:nvPr/>
          </p:nvSpPr>
          <p:spPr>
            <a:xfrm>
              <a:off x="5352821" y="2918156"/>
              <a:ext cx="5191125" cy="1353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应用</a:t>
              </a:r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实验</a:t>
              </a:r>
              <a:endParaRPr kumimoji="1" lang="zh-CN" altLang="en-US" sz="8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070631" y="2544776"/>
              <a:ext cx="1752600" cy="21234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zh-CN" sz="138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03</a:t>
              </a:r>
              <a:endParaRPr kumimoji="1" lang="zh-CN" altLang="en-US" sz="138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cxnSp>
          <p:nvCxnSpPr>
            <p:cNvPr id="18" name="直线连接符 5"/>
            <p:cNvCxnSpPr/>
            <p:nvPr/>
          </p:nvCxnSpPr>
          <p:spPr>
            <a:xfrm>
              <a:off x="5352850" y="4272480"/>
              <a:ext cx="5191760" cy="19050"/>
            </a:xfrm>
            <a:prstGeom prst="line">
              <a:avLst/>
            </a:prstGeom>
            <a:ln w="53975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29989" y="4772275"/>
            <a:ext cx="7271201" cy="553706"/>
            <a:chOff x="4382" y="9112"/>
            <a:chExt cx="11451" cy="872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835" y="9112"/>
              <a:ext cx="10998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直流伺服电机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</a:t>
              </a:r>
              <a:endParaRPr lang="zh-CN" altLang="en-US" sz="36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2929989" y="3871868"/>
            <a:ext cx="6775279" cy="553706"/>
            <a:chOff x="4382" y="9112"/>
            <a:chExt cx="10670" cy="872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6"/>
              </p:custDataLst>
            </p:nvPr>
          </p:nvSpPr>
          <p:spPr>
            <a:xfrm>
              <a:off x="4835" y="9112"/>
              <a:ext cx="10217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工业电加热炉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929989" y="5672682"/>
            <a:ext cx="7805223" cy="553706"/>
            <a:chOff x="4382" y="9112"/>
            <a:chExt cx="12292" cy="872"/>
          </a:xfrm>
        </p:grpSpPr>
        <p:sp>
          <p:nvSpPr>
            <p:cNvPr id="19" name="矩形 18"/>
            <p:cNvSpPr/>
            <p:nvPr>
              <p:custDataLst>
                <p:tags r:id="rId8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9"/>
              </p:custDataLst>
            </p:nvPr>
          </p:nvSpPr>
          <p:spPr>
            <a:xfrm>
              <a:off x="4835" y="9112"/>
              <a:ext cx="11839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双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容串联液位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控制过程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工业电加热炉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3505" y="988060"/>
            <a:ext cx="1198435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 场景物理说明：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工业电阻加热炉是典型的热工过程控制对象。电热丝通电发热，通过炉壁热传导与空气对流加热炉膛，具有显著的大热容惯性与热传导纯滞后特征。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 控制需求：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快速升温：从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阶跃至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100℃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时，上升时间短且易导致积分饱和超调；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强抗扰恢复：在冷水注入或炉门开启导致热量骤降时，温度跌落小、恢复快；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反向降温对称性：从</a:t>
            </a:r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100℃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降至</a:t>
            </a:r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70℃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时平滑过渡，减小下冲超调。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 传递函数与微分方程模型（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FOPDT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一阶惯性加纯滞后）：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对应时域微分方程（环境基准温度为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变化事件预设：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时设定值大阶跃升温，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110s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时冷控制扰动，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190s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时反向阶跃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降温，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4383" t="25381" b="11524"/>
          <a:stretch>
            <a:fillRect/>
          </a:stretch>
        </p:blipFill>
        <p:spPr>
          <a:xfrm>
            <a:off x="3599180" y="3994150"/>
            <a:ext cx="4994275" cy="6076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2205" t="4762"/>
          <a:stretch>
            <a:fillRect/>
          </a:stretch>
        </p:blipFill>
        <p:spPr>
          <a:xfrm>
            <a:off x="1689735" y="5050155"/>
            <a:ext cx="8811260" cy="67945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45710" y="0"/>
            <a:ext cx="714565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工业电加热炉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2649" b="27343"/>
          <a:stretch>
            <a:fillRect/>
          </a:stretch>
        </p:blipFill>
        <p:spPr>
          <a:xfrm>
            <a:off x="8255" y="833120"/>
            <a:ext cx="7917815" cy="60248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26705" y="505460"/>
            <a:ext cx="4015740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5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优势：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破除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“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超调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-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速度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”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矛盾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相较于传统无抗饱和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与传统抗饱和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，模糊自适应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通过动态调参，实现零调参，调节时间缩短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49%</a:t>
            </a:r>
            <a:endParaRPr lang="en-US" altLang="zh-CN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强抗扰快速恢复</a:t>
            </a:r>
            <a:endParaRPr lang="en-US" altLang="zh-CN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冷负荷加入瞬间，模糊规则立刻放大比例，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响应最敏捷，温度跌落最浅、回稳最快。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在线自整定免建模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不依赖全局最优，仅凭模糊规则即可在各类扰动下逼近理论最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优控制品质，执行器功率过滤平滑、抗饱和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退火及时。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工业电加热炉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" y="915670"/>
            <a:ext cx="11814175" cy="5942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直流伺服电机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103505" y="857250"/>
                <a:ext cx="11984355" cy="60007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fontAlgn="auto"/>
                <a:r>
                  <a:rPr lang="zh-CN" altLang="en-US" sz="2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1. 场景物理说明：</a:t>
                </a:r>
                <a:endParaRPr lang="zh-CN" altLang="en-US" sz="2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永磁直流伺服电机是工业机器人、数控机床的核心执行部件，属于典型的机电耦合二阶快速动态系统。输入为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H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桥驱动器的电枢电压</a:t>
                </a: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u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t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)，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输出为转子机械角速度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𝜔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，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内部存在电枢电感电流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与反电动势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𝑒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𝜔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的强耦合。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zh-CN" altLang="en-US" sz="2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2. 控制需求：</a:t>
                </a:r>
                <a:endParaRPr lang="zh-CN" altLang="en-US" sz="2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en-US" altLang="zh-CN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·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无超调起动：在</a:t>
                </a:r>
                <a:r>
                  <a:rPr lang="en-US" altLang="zh-CN" sz="2400">
                    <a:latin typeface="Times New Roman" panose="02020603050405020304" charset="0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0→100rad/s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高速起动时，克服电枢大电流冲击，实现零超调快速入位；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en-US" altLang="zh-CN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·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强抗力矩冲击：切削或抓取突加负载力矩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时，转速跌落极小并瞬时恢复；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en-US" altLang="zh-CN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·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变转动惯量鲁棒性：机械臂伸展或挂载重物导致转动惯量</a:t>
                </a:r>
                <a:r>
                  <a:rPr lang="en-US" altLang="zh-CN" sz="2400" i="1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J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Times New Roman" panose="02020603050405020304" charset="0"/>
                    <a:sym typeface="+mn-ea"/>
                  </a:rPr>
                  <a:t>成倍剧增时，维持高动态跟踪且不发生震荡。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zh-CN" altLang="en-US" sz="2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3. 状态空间微分方程与传递函数模型：</a:t>
                </a:r>
                <a:endParaRPr lang="zh-CN" altLang="en-US" sz="2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en-US" altLang="zh-CN" sz="2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4.</a:t>
                </a:r>
                <a:r>
                  <a:rPr lang="zh-CN" altLang="en-US" sz="2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变化事件预设：</a:t>
                </a:r>
                <a:endParaRPr lang="zh-CN" altLang="en-US" sz="2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  <a:p>
                <a:pPr indent="0" fontAlgn="auto"/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0s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时空载高速阶跃起动，</a:t>
                </a:r>
                <a:r>
                  <a:rPr 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2s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时突加恒定负载力矩，</a:t>
                </a:r>
                <a:r>
                  <a:rPr 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3.8s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时转速阶跃升至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130rad/s</a:t>
                </a:r>
                <a:r>
                  <a:rPr lang="zh-CN" altLang="en-US" sz="2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。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5" y="857250"/>
                <a:ext cx="11984355" cy="60007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474" t="4936" r="895" b="7051"/>
          <a:stretch>
            <a:fillRect/>
          </a:stretch>
        </p:blipFill>
        <p:spPr>
          <a:xfrm>
            <a:off x="2685415" y="4634230"/>
            <a:ext cx="6820535" cy="132143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82205" y="915670"/>
            <a:ext cx="461200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5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优势：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强效抑制起动超调与极限震荡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相较于传统无抗饱和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高达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64%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的超调，模糊自适应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控制超调仅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8%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，消除反向电压饱和冲击。</a:t>
            </a:r>
            <a:endParaRPr lang="en-US" altLang="zh-CN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突加负载下的高动态刚度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冷负荷加入瞬间，模糊规则立刻放大比例，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响应最敏捷，温度跌落最浅、回稳最快。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2.5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倍变惯量的强鲁棒自适应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在被控对象参数巨变下无需重整定即可在线自适应阻尼，避免了传统定常 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 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模型失配引发的大幅失稳摇摆。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27593"/>
          <a:stretch>
            <a:fillRect/>
          </a:stretch>
        </p:blipFill>
        <p:spPr>
          <a:xfrm>
            <a:off x="0" y="732790"/>
            <a:ext cx="7482205" cy="61252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直流伺服电机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直流伺服电机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365"/>
            <a:ext cx="12192000" cy="5969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3.3  </a:t>
            </a:r>
            <a:r>
              <a:rPr lang="zh-CN" altLang="en-US" sz="40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rPr>
              <a:t>双容串联液位控制过程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65" y="4146550"/>
            <a:ext cx="7190105" cy="774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0" y="4880610"/>
            <a:ext cx="8827135" cy="12065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3505" y="828040"/>
            <a:ext cx="11984355" cy="6029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 场景物理说明：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化工与水处理领域的上下游双容水箱串联液位过程。两个一阶容积惯性环节串联叠加管道传输纯滞后，使得系统呈现典型的二阶过阻尼大滞后特征，相角裕度极低，常规积分控制极易引起慢速大幅波动。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 控制需求：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平稳大范围升液：</a:t>
            </a:r>
            <a:r>
              <a:rPr lang="zh-CN" altLang="en-US" sz="24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从20%升至60%过程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中克服双水箱容积迟滞，避免溢流；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抑制副管进液冲击：当副管突加未知进液流量时，快速排泄多余液位；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消除反向降液二次超</a:t>
            </a:r>
            <a:r>
              <a:rPr lang="zh-CN" altLang="en-US" sz="24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调：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克服上游水箱存水滞后导致的“过放”，实现零下冲超调。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 传递函数与微分方程模型（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FOPDT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阶惯性加纯滞后）：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变化事件预设：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时设定值阶跃升液，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120s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时副管进液流量冲击产生扰动，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230s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设定值反向阶跃降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液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082790" y="0"/>
            <a:ext cx="5109210" cy="6857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3.3  </a:t>
            </a:r>
            <a:r>
              <a:rPr lang="zh-CN" altLang="en-US" sz="40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rPr>
              <a:t>双容串联液位控制过程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00900" y="1135380"/>
            <a:ext cx="474154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/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优势：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破除二阶大惯性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响应慢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问题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升液初段自动满开阀门全速注水，中断提前关阀防止超调，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克服传统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严重拖尾问题。</a:t>
            </a:r>
            <a:endParaRPr lang="en-US" altLang="zh-CN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进液冲击后快速精准回稳</a:t>
            </a:r>
            <a:endParaRPr lang="en-US" altLang="zh-CN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流量冲击结束后模糊自适应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PID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动态调节阀门开度，率先将液位误差压低至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0.003%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，抗扰恢复彻底。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对数误差急剧衰减，稳态精度高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 fontAlgn="auto"/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降液阶段果断关阀快速泄液，观察底部对数误差图，末端误差直降至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0.001%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，兼顾了零钞条与超高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稳态精度</a:t>
            </a:r>
            <a:endParaRPr lang="zh-CN" altLang="en-US"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26954"/>
          <a:stretch>
            <a:fillRect/>
          </a:stretch>
        </p:blipFill>
        <p:spPr>
          <a:xfrm>
            <a:off x="0" y="793115"/>
            <a:ext cx="7200900" cy="5946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3.3  </a:t>
            </a:r>
            <a:r>
              <a:rPr lang="zh-CN" altLang="en-US" sz="40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rPr>
              <a:t>双容串联液位控制过程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" y="915670"/>
            <a:ext cx="10474325" cy="5920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40100" y="1468120"/>
            <a:ext cx="5432425" cy="2123440"/>
            <a:chOff x="3897" y="2312"/>
            <a:chExt cx="8555" cy="3344"/>
          </a:xfrm>
        </p:grpSpPr>
        <p:sp>
          <p:nvSpPr>
            <p:cNvPr id="15" name="文本框 14"/>
            <p:cNvSpPr txBox="1"/>
            <p:nvPr/>
          </p:nvSpPr>
          <p:spPr>
            <a:xfrm>
              <a:off x="7491" y="2900"/>
              <a:ext cx="4858" cy="21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zh-CN" altLang="en-US" sz="8800" b="1" dirty="0">
                  <a:solidFill>
                    <a:schemeClr val="accent1"/>
                  </a:solidFill>
                  <a:cs typeface="+mn-ea"/>
                  <a:sym typeface="+mn-lt"/>
                </a:rPr>
                <a:t>总结</a:t>
              </a:r>
              <a:endParaRPr kumimoji="1" lang="zh-CN" altLang="en-US" sz="8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897" y="2312"/>
              <a:ext cx="2760" cy="33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zh-CN" sz="138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04</a:t>
              </a:r>
              <a:endParaRPr kumimoji="1" lang="zh-CN" altLang="en-US" sz="138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cxnSp>
          <p:nvCxnSpPr>
            <p:cNvPr id="18" name="直线连接符 5"/>
            <p:cNvCxnSpPr/>
            <p:nvPr/>
          </p:nvCxnSpPr>
          <p:spPr>
            <a:xfrm>
              <a:off x="7491" y="5032"/>
              <a:ext cx="4961" cy="5"/>
            </a:xfrm>
            <a:prstGeom prst="line">
              <a:avLst/>
            </a:prstGeom>
            <a:ln w="53975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686909" y="4893560"/>
            <a:ext cx="7271201" cy="553706"/>
            <a:chOff x="4382" y="9112"/>
            <a:chExt cx="11451" cy="872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835" y="9112"/>
              <a:ext cx="10998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小组分工</a:t>
              </a:r>
              <a:r>
                <a:rPr lang="zh-CN" altLang="en-US" sz="36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总结</a:t>
              </a:r>
              <a:endParaRPr lang="zh-CN" altLang="en-US" sz="36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3686909" y="3993153"/>
            <a:ext cx="6775279" cy="553706"/>
            <a:chOff x="4382" y="9112"/>
            <a:chExt cx="10670" cy="872"/>
          </a:xfrm>
        </p:grpSpPr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4835" y="9112"/>
              <a:ext cx="10217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汇报内容总结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3686909" y="5793967"/>
            <a:ext cx="7805223" cy="553706"/>
            <a:chOff x="4382" y="9112"/>
            <a:chExt cx="12292" cy="872"/>
          </a:xfrm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4382" y="9429"/>
              <a:ext cx="238" cy="238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4125" tIns="42062" rIns="84125" bIns="42062" rtlCol="0" anchor="ctr"/>
            <a:lstStyle/>
            <a:p>
              <a:pPr algn="ctr"/>
              <a:endParaRPr lang="zh-CN" altLang="en-US" sz="80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4835" y="9112"/>
              <a:ext cx="11839" cy="8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代码与原文档开源</a:t>
              </a:r>
              <a:r>
                <a:rPr lang="zh-CN" altLang="en-US" sz="3600" b="1" dirty="0">
                  <a:solidFill>
                    <a:schemeClr val="accent1"/>
                  </a:solidFill>
                  <a:uFillTx/>
                  <a:latin typeface="Times New Roman" panose="02020603050405020304" charset="0"/>
                  <a:ea typeface="宋体" panose="02010600030101010101" pitchFamily="2" charset="-122"/>
                  <a:cs typeface="+mn-ea"/>
                  <a:sym typeface="+mn-lt"/>
                </a:rPr>
                <a:t>地址</a:t>
              </a:r>
              <a:endParaRPr lang="zh-CN" altLang="en-US" sz="3600" b="1" dirty="0">
                <a:solidFill>
                  <a:schemeClr val="accent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4.1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汇报内容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总结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424180" y="1216025"/>
          <a:ext cx="11495405" cy="507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375"/>
                <a:gridCol w="10527030"/>
              </a:tblGrid>
              <a:tr h="1120140">
                <a:tc>
                  <a:txBody>
                    <a:bodyPr/>
                    <a:p>
                      <a:pPr indent="0" fontAlgn="auto">
                        <a:spcBef>
                          <a:spcPts val="0"/>
                        </a:spcBef>
                        <a:buNone/>
                      </a:pPr>
                      <a:r>
                        <a:rPr lang="zh-CN" altLang="en-US" sz="2800" b="1">
                          <a:solidFill>
                            <a:srgbClr val="4A66AC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引出</a:t>
                      </a:r>
                      <a:endParaRPr lang="zh-CN" altLang="en-US" sz="2800" b="1">
                        <a:solidFill>
                          <a:srgbClr val="4A66AC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传统</a:t>
                      </a:r>
                      <a:r>
                        <a:rPr lang="en-US" altLang="zh-CN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PID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控制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痛点</a:t>
                      </a:r>
                      <a:endParaRPr lang="zh-CN" altLang="en-US" sz="28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什么是模糊控制、什么是自适应控制</a:t>
                      </a:r>
                      <a:endParaRPr lang="zh-CN" altLang="en-US" sz="28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·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什么是模糊自适应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PID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控制及其优势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</a:tr>
              <a:tr h="1120140">
                <a:tc>
                  <a:txBody>
                    <a:bodyPr/>
                    <a:p>
                      <a:pPr indent="0" fontAlgn="auto">
                        <a:spcBef>
                          <a:spcPts val="0"/>
                        </a:spcBef>
                        <a:buNone/>
                      </a:pPr>
                      <a:r>
                        <a:rPr lang="zh-CN" altLang="en-US" sz="2800" b="1">
                          <a:solidFill>
                            <a:srgbClr val="4A66AC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原理</a:t>
                      </a:r>
                      <a:endParaRPr lang="zh-CN" altLang="en-US" sz="2800" b="1">
                        <a:solidFill>
                          <a:srgbClr val="4A66AC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模糊自适应</a:t>
                      </a:r>
                      <a:r>
                        <a:rPr lang="en-US" altLang="zh-CN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PID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控制总体框架</a:t>
                      </a:r>
                      <a:endParaRPr lang="zh-CN" altLang="en-US" sz="28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隶属度函数</a:t>
                      </a:r>
                      <a:endParaRPr lang="zh-CN" altLang="en-US" sz="2800" b="1"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模糊规则库</a:t>
                      </a:r>
                      <a:endParaRPr lang="zh-CN" altLang="en-US" sz="2800" b="1"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</a:tr>
              <a:tr h="1391285">
                <a:tc>
                  <a:txBody>
                    <a:bodyPr/>
                    <a:p>
                      <a:pPr indent="0" fontAlgn="auto">
                        <a:spcBef>
                          <a:spcPts val="0"/>
                        </a:spcBef>
                        <a:buNone/>
                      </a:pPr>
                      <a:r>
                        <a:rPr lang="zh-CN" altLang="en-US" sz="2800" b="1">
                          <a:solidFill>
                            <a:srgbClr val="4A66AC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举例</a:t>
                      </a:r>
                      <a:endParaRPr lang="zh-CN" altLang="en-US" sz="2800" b="1">
                        <a:solidFill>
                          <a:srgbClr val="4A66AC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工业电加热炉控制</a:t>
                      </a:r>
                      <a:endParaRPr lang="zh-CN" altLang="en-US" sz="28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直流伺服电机控制</a:t>
                      </a:r>
                      <a:endParaRPr lang="zh-CN" altLang="en-US" sz="28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fontAlgn="auto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800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zh-CN" sz="2800" b="1">
                          <a:uFillTx/>
                          <a:latin typeface="仿宋" panose="02010609060101010101" charset="-122"/>
                          <a:ea typeface="仿宋" panose="02010609060101010101" charset="-122"/>
                          <a:cs typeface="Times New Roman" panose="02020603050405020304" charset="0"/>
                          <a:sym typeface="+mn-ea"/>
                        </a:rPr>
                        <a:t> ·</a:t>
                      </a:r>
                      <a:r>
                        <a:rPr lang="zh-CN" altLang="en-US" sz="2800" b="1"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双容串联液位控制</a:t>
                      </a:r>
                      <a:endParaRPr lang="zh-CN" altLang="en-US" sz="2800" b="1">
                        <a:uFillTx/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4A66AC"/>
                      </a:solidFill>
                      <a:prstDash val="solid"/>
                    </a:lnL>
                    <a:lnR w="12700" cmpd="sng">
                      <a:solidFill>
                        <a:srgbClr val="4A66AC"/>
                      </a:solidFill>
                      <a:prstDash val="solid"/>
                    </a:lnR>
                    <a:lnT w="12700" cmpd="sng">
                      <a:solidFill>
                        <a:srgbClr val="4A66AC"/>
                      </a:solidFill>
                      <a:prstDash val="solid"/>
                    </a:lnT>
                    <a:lnB w="12700" cmpd="sng">
                      <a:solidFill>
                        <a:srgbClr val="4A66A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4.2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小组分工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总结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32410" y="940435"/>
          <a:ext cx="11769090" cy="5593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2120"/>
                <a:gridCol w="2121535"/>
                <a:gridCol w="7925435"/>
              </a:tblGrid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性质</a:t>
                      </a:r>
                      <a:endParaRPr lang="zh-CN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分工</a:t>
                      </a:r>
                      <a:endParaRPr lang="zh-CN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尹健泷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组长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PPT </a:t>
                      </a:r>
                      <a:r>
                        <a:rPr lang="zh-CN" altLang="en-US" sz="2400" b="1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制作、</a:t>
                      </a:r>
                      <a:r>
                        <a:rPr lang="en-US" altLang="zh-CN" sz="2400" b="1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Python/MATLAB </a:t>
                      </a:r>
                      <a:r>
                        <a:rPr lang="zh-CN" altLang="en-US" sz="2400" b="1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全套算法代码编写、</a:t>
                      </a:r>
                      <a:r>
                        <a:rPr lang="zh-CN" altLang="en-US" sz="2400" b="1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汇报</a:t>
                      </a:r>
                      <a:endParaRPr lang="zh-CN" altLang="en-US" sz="2400" b="1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郭振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组员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代码编写、框架构建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刘思明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组员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资料查找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刘智康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组员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资料查找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杨嘉隆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组员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资料查找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220" y="3757295"/>
            <a:ext cx="3827780" cy="3100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780" cy="3100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940" y="214630"/>
            <a:ext cx="964819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4.3  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代码与原文档</a:t>
            </a:r>
            <a:r>
              <a:rPr kumimoji="1" lang="zh-CN" altLang="en-US" sz="4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开源地址</a:t>
            </a:r>
            <a:endParaRPr kumimoji="1" lang="zh-CN" altLang="en-US" sz="4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4973955"/>
            <a:ext cx="8451215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5000"/>
              </a:lnSpc>
            </a:pP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相关工作结果已开源在</a:t>
            </a:r>
            <a:endParaRPr lang="zh-CN" altLang="en-US" b="1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hlinkClick r:id="rId2" action="ppaction://hlinkfile"/>
              </a:rPr>
              <a:t>https://github.com/Yclor9828/Yclor_Contrl-Smartly-2026.git</a:t>
            </a:r>
            <a:endParaRPr lang="en-US" altLang="zh-CN" b="1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包含了源</a:t>
            </a: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matlba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python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代码、图表、</a:t>
            </a: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md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汇总文档等，欢迎大家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参与讨论</a:t>
            </a:r>
            <a:endParaRPr lang="zh-CN" altLang="en-US" b="1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635" y="915670"/>
            <a:ext cx="3775710" cy="41687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3387"/>
          <a:stretch>
            <a:fillRect/>
          </a:stretch>
        </p:blipFill>
        <p:spPr>
          <a:xfrm>
            <a:off x="8539480" y="915670"/>
            <a:ext cx="3567430" cy="416877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229235" y="915670"/>
            <a:ext cx="4658360" cy="3369945"/>
            <a:chOff x="361" y="1442"/>
            <a:chExt cx="7336" cy="530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rcRect b="42106"/>
            <a:stretch>
              <a:fillRect/>
            </a:stretch>
          </p:blipFill>
          <p:spPr>
            <a:xfrm>
              <a:off x="361" y="1442"/>
              <a:ext cx="7336" cy="330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rcRect t="63782" b="560"/>
            <a:stretch>
              <a:fillRect/>
            </a:stretch>
          </p:blipFill>
          <p:spPr>
            <a:xfrm>
              <a:off x="361" y="4715"/>
              <a:ext cx="7336" cy="20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图片 16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23150" y="3195320"/>
            <a:ext cx="4768850" cy="3662680"/>
          </a:xfrm>
          <a:prstGeom prst="rect">
            <a:avLst/>
          </a:prstGeom>
        </p:spPr>
      </p:pic>
      <p:sp>
        <p:nvSpPr>
          <p:cNvPr id="12" name="直角三角形 11"/>
          <p:cNvSpPr/>
          <p:nvPr/>
        </p:nvSpPr>
        <p:spPr>
          <a:xfrm>
            <a:off x="635" y="5368290"/>
            <a:ext cx="2894965" cy="1489710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" name="直角三角形 1"/>
          <p:cNvSpPr/>
          <p:nvPr/>
        </p:nvSpPr>
        <p:spPr>
          <a:xfrm>
            <a:off x="1270" y="2172335"/>
            <a:ext cx="5155565" cy="468630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0" y="127000"/>
            <a:ext cx="4812665" cy="6731000"/>
          </a:xfrm>
          <a:prstGeom prst="rtTriangle">
            <a:avLst/>
          </a:prstGeom>
          <a:solidFill>
            <a:srgbClr val="BFD4E9">
              <a:alpha val="6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1270" y="805180"/>
            <a:ext cx="4964430" cy="6053455"/>
          </a:xfrm>
          <a:prstGeom prst="rtTriangle">
            <a:avLst/>
          </a:prstGeom>
          <a:solidFill>
            <a:srgbClr val="8CB2D8">
              <a:alpha val="51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1" name="直角三角形 20"/>
          <p:cNvSpPr/>
          <p:nvPr/>
        </p:nvSpPr>
        <p:spPr>
          <a:xfrm>
            <a:off x="1270" y="4544695"/>
            <a:ext cx="5150485" cy="2322195"/>
          </a:xfrm>
          <a:prstGeom prst="rtTriangle">
            <a:avLst/>
          </a:prstGeom>
          <a:solidFill>
            <a:srgbClr val="8DB3D8">
              <a:alpha val="5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4" name="直角三角形 23"/>
          <p:cNvSpPr/>
          <p:nvPr/>
        </p:nvSpPr>
        <p:spPr>
          <a:xfrm rot="3240000">
            <a:off x="-1189355" y="3321050"/>
            <a:ext cx="5045075" cy="2299970"/>
          </a:xfrm>
          <a:prstGeom prst="rtTriangle">
            <a:avLst/>
          </a:prstGeom>
          <a:solidFill>
            <a:srgbClr val="8DB3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zh-CN" altLang="en-US" b="1"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51485"/>
            <a:ext cx="6205855" cy="40157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291" y="799465"/>
            <a:ext cx="6205855" cy="401574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556003" y="1718703"/>
            <a:ext cx="7758430" cy="1107440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汇报完毕</a:t>
            </a:r>
            <a:r>
              <a:rPr lang="en-US" altLang="zh-CN" sz="72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72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感谢观看</a:t>
            </a:r>
            <a:endParaRPr lang="en-US" altLang="zh-CN" sz="7200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714" y="2817495"/>
            <a:ext cx="5033010" cy="5562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921" y="3286760"/>
            <a:ext cx="5522595" cy="7493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4296096" y="3661410"/>
            <a:ext cx="6638290" cy="1123950"/>
            <a:chOff x="6910" y="5766"/>
            <a:chExt cx="10454" cy="1770"/>
          </a:xfrm>
        </p:grpSpPr>
        <p:grpSp>
          <p:nvGrpSpPr>
            <p:cNvPr id="23" name="组合 22"/>
            <p:cNvGrpSpPr/>
            <p:nvPr/>
          </p:nvGrpSpPr>
          <p:grpSpPr>
            <a:xfrm>
              <a:off x="12087" y="5778"/>
              <a:ext cx="1381" cy="581"/>
              <a:chOff x="4382" y="9112"/>
              <a:chExt cx="1381" cy="581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835" y="9112"/>
                <a:ext cx="928" cy="581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指导老师：兰永红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910" y="5766"/>
              <a:ext cx="4062" cy="581"/>
              <a:chOff x="4055910" y="4564696"/>
              <a:chExt cx="2578897" cy="36893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4055910" y="4673451"/>
                <a:ext cx="151425" cy="151425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338872" y="4564696"/>
                <a:ext cx="2295935" cy="36893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课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 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程：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智能控制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910" y="6955"/>
              <a:ext cx="3866" cy="581"/>
              <a:chOff x="4382" y="9112"/>
              <a:chExt cx="3866" cy="581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4835" y="9112"/>
                <a:ext cx="3413" cy="581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汇报人：尹健泷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087" y="6955"/>
              <a:ext cx="5277" cy="581"/>
              <a:chOff x="4382" y="9112"/>
              <a:chExt cx="5277" cy="581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4382" y="9284"/>
                <a:ext cx="238" cy="238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125" tIns="42062" rIns="84125" bIns="42062" rtlCol="0" anchor="ctr"/>
              <a:lstStyle/>
              <a:p>
                <a:pPr algn="ctr"/>
                <a:endParaRPr lang="zh-CN" altLang="en-US" sz="8000" b="1" dirty="0"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835" y="9112"/>
                <a:ext cx="4824" cy="581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班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 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级：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23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级自动化</a:t>
                </a:r>
                <a:r>
                  <a:rPr lang="en-US" altLang="zh-CN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</a:t>
                </a:r>
                <a:r>
                  <a:rPr lang="zh-CN" altLang="en-US" sz="2400" b="1" dirty="0">
                    <a:solidFill>
                      <a:schemeClr val="accent1">
                        <a:lumMod val="100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班</a:t>
                </a:r>
                <a:endParaRPr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714" y="1055370"/>
            <a:ext cx="5033010" cy="55626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4361180" y="5331460"/>
            <a:ext cx="6148070" cy="430530"/>
            <a:chOff x="6868" y="8396"/>
            <a:chExt cx="9682" cy="678"/>
          </a:xfrm>
        </p:grpSpPr>
        <p:grpSp>
          <p:nvGrpSpPr>
            <p:cNvPr id="38" name="组合 37"/>
            <p:cNvGrpSpPr/>
            <p:nvPr/>
          </p:nvGrpSpPr>
          <p:grpSpPr>
            <a:xfrm rot="0">
              <a:off x="6868" y="8599"/>
              <a:ext cx="2605" cy="272"/>
              <a:chOff x="4643" y="9390"/>
              <a:chExt cx="2605" cy="272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6972" y="9390"/>
                <a:ext cx="276" cy="272"/>
              </a:xfrm>
              <a:prstGeom prst="ellipse">
                <a:avLst/>
              </a:prstGeom>
              <a:solidFill>
                <a:srgbClr val="4A66AC"/>
              </a:solidFill>
              <a:ln>
                <a:solidFill>
                  <a:srgbClr val="4A66A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0" name="直接连接符 39"/>
              <p:cNvCxnSpPr>
                <a:stCxn id="39" idx="2"/>
              </p:cNvCxnSpPr>
              <p:nvPr/>
            </p:nvCxnSpPr>
            <p:spPr>
              <a:xfrm flipH="1">
                <a:off x="4643" y="9526"/>
                <a:ext cx="2329" cy="10"/>
              </a:xfrm>
              <a:prstGeom prst="line">
                <a:avLst/>
              </a:prstGeom>
              <a:ln>
                <a:gradFill>
                  <a:gsLst>
                    <a:gs pos="100000">
                      <a:srgbClr val="4A66AC"/>
                    </a:gs>
                    <a:gs pos="0">
                      <a:schemeClr val="bg1"/>
                    </a:gs>
                    <a:gs pos="56000">
                      <a:schemeClr val="accent1">
                        <a:lumMod val="45000"/>
                        <a:lumOff val="55000"/>
                      </a:schemeClr>
                    </a:gs>
                    <a:gs pos="79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0800000" scaled="0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 rot="0">
              <a:off x="13946" y="8599"/>
              <a:ext cx="2604" cy="272"/>
              <a:chOff x="11148" y="9390"/>
              <a:chExt cx="2604" cy="272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1148" y="9390"/>
                <a:ext cx="276" cy="272"/>
              </a:xfrm>
              <a:prstGeom prst="ellipse">
                <a:avLst/>
              </a:prstGeom>
              <a:solidFill>
                <a:srgbClr val="4A66AC"/>
              </a:solidFill>
              <a:ln>
                <a:solidFill>
                  <a:srgbClr val="4A66A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 flipH="1">
                <a:off x="11424" y="9526"/>
                <a:ext cx="2329" cy="10"/>
              </a:xfrm>
              <a:prstGeom prst="line">
                <a:avLst/>
              </a:prstGeom>
              <a:ln>
                <a:gradFill>
                  <a:gsLst>
                    <a:gs pos="100000">
                      <a:srgbClr val="4A66AC"/>
                    </a:gs>
                    <a:gs pos="0">
                      <a:schemeClr val="bg1"/>
                    </a:gs>
                    <a:gs pos="56000">
                      <a:schemeClr val="accent1">
                        <a:lumMod val="45000"/>
                        <a:lumOff val="55000"/>
                      </a:schemeClr>
                    </a:gs>
                    <a:gs pos="79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>
              <a:off x="9739" y="8396"/>
              <a:ext cx="3941" cy="67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8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第一组</a:t>
              </a:r>
              <a:r>
                <a:rPr lang="zh-CN" altLang="en-US" sz="2800" b="1" dirty="0">
                  <a:solidFill>
                    <a:schemeClr val="accent1">
                      <a:lumMod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小组汇报</a:t>
              </a:r>
              <a:endParaRPr lang="zh-CN" altLang="en-US" sz="2800" b="1" dirty="0">
                <a:solidFill>
                  <a:schemeClr val="accent1">
                    <a:lumMod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3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4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5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6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7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8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9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0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1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2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3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4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5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6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7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8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19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0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1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2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3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4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5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6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27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28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29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0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1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2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3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4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5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36.xml><?xml version="1.0" encoding="utf-8"?>
<p:tagLst xmlns:p="http://schemas.openxmlformats.org/presentationml/2006/main">
  <p:tag name="TABLE_ENDDRAG_ORIGIN_RECT" val="926*469"/>
  <p:tag name="TABLE_ENDDRAG_RECT" val="21*70*926*469"/>
</p:tagLst>
</file>

<file path=ppt/tags/tag37.xml><?xml version="1.0" encoding="utf-8"?>
<p:tagLst xmlns:p="http://schemas.openxmlformats.org/presentationml/2006/main">
  <p:tag name="TABLE_ENDDRAG_ORIGIN_RECT" val="926*469"/>
  <p:tag name="TABLE_ENDDRAG_RECT" val="21*70*926*469"/>
</p:tagLst>
</file>

<file path=ppt/tags/tag38.xml><?xml version="1.0" encoding="utf-8"?>
<p:tagLst xmlns:p="http://schemas.openxmlformats.org/presentationml/2006/main">
  <p:tag name="TABLE_ENDDRAG_ORIGIN_RECT" val="926*469"/>
  <p:tag name="TABLE_ENDDRAG_RECT" val="21*70*926*469"/>
</p:tagLst>
</file>

<file path=ppt/tags/tag39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0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1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2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3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4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5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6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7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8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49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0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1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2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3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4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5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6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7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8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59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0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1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2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3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4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5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6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7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8.xml><?xml version="1.0" encoding="utf-8"?>
<p:tagLst xmlns:p="http://schemas.openxmlformats.org/presentationml/2006/main">
  <p:tag name="KSO_WM_DIAGRAM_VIRTUALLY_FRAME" val="{&quot;height&quot;:198.04531250000008,&quot;left&quot;:212.2,&quot;top&quot;:301.771496062992,&quot;width&quot;:692.6922834645669}"/>
</p:tagLst>
</file>

<file path=ppt/tags/tag69.xml><?xml version="1.0" encoding="utf-8"?>
<p:tagLst xmlns:p="http://schemas.openxmlformats.org/presentationml/2006/main">
  <p:tag name="TABLE_ENDDRAG_ORIGIN_RECT" val="843*399"/>
  <p:tag name="TABLE_ENDDRAG_RECT" val="94*95*843*399"/>
</p:tagLst>
</file>

<file path=ppt/tags/tag70.xml><?xml version="1.0" encoding="utf-8"?>
<p:tagLst xmlns:p="http://schemas.openxmlformats.org/presentationml/2006/main">
  <p:tag name="TABLE_ENDDRAG_ORIGIN_RECT" val="926*440"/>
  <p:tag name="TABLE_ENDDRAG_RECT" val="18*74*926*440"/>
</p:tagLst>
</file>

<file path=ppt/tags/tag71.xml><?xml version="1.0" encoding="utf-8"?>
<p:tagLst xmlns:p="http://schemas.openxmlformats.org/presentationml/2006/main">
  <p:tag name="KSO_WM_DIAGRAM_VIRTUALLY_FRAME" val="{&quot;height&quot;:409.9,&quot;left&quot;:179.6828346456693,&quot;top&quot;:130.1,&quot;width&quot;:780.3171653543307}"/>
</p:tagLst>
</file>

<file path=ppt/tags/tag7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ODViZmQwYjNiY2EwYTI4N2Q2NWRiMDE2MDM0MTU1YzIifQ=="/>
  <p:tag name="KSO_WPP_MARK_KEY" val="95152db5-2854-4fae-aea9-3d53e2c6fcdc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4002</Words>
  <Application>WPS 演示</Application>
  <PresentationFormat>宽屏</PresentationFormat>
  <Paragraphs>341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Times New Roman</vt:lpstr>
      <vt:lpstr>Cambria Math</vt:lpstr>
      <vt:lpstr>思源宋体 CN Heavy</vt:lpstr>
      <vt:lpstr>KSOFE22CBF3B</vt:lpstr>
      <vt:lpstr>AMGDT</vt:lpstr>
      <vt:lpstr>思源黑体 CN Regular</vt:lpstr>
      <vt:lpstr>黑体</vt:lpstr>
      <vt:lpstr>微软雅黑</vt:lpstr>
      <vt:lpstr>Arial Unicode MS</vt:lpstr>
      <vt:lpstr>仿宋</vt:lpstr>
      <vt:lpstr>Arial</vt:lpstr>
      <vt:lpstr>思源黑体 CN Regular (正文)</vt:lpstr>
      <vt:lpstr>思源黑体</vt:lpstr>
      <vt:lpstr>KSOF28C8607A</vt:lpstr>
      <vt:lpstr>KSOF28C94938</vt:lpstr>
      <vt:lpstr>MS Mincho</vt:lpstr>
      <vt:lpstr>KSOF28C8D4D9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尹健泷</cp:lastModifiedBy>
  <cp:revision>97</cp:revision>
  <dcterms:created xsi:type="dcterms:W3CDTF">2024-01-17T15:47:00Z</dcterms:created>
  <dcterms:modified xsi:type="dcterms:W3CDTF">2026-10-11T06:27:04Z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38E88D06D596480C833C4F953EFFB7AE_11</vt:lpwstr>
  </property>
  <property fmtid="{D5CDD505-2E9C-101B-9397-08002B2CF9AE}" pid="3" name="KSOProductBuildVer">
    <vt:lpwstr>2052-12.1.0.28505</vt:lpwstr>
  </property>
</Properties>
</file>